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layout/>
      <c:overlay val="0"/>
    </c:title>
    <c:autoTitleDeleted val="0"/>
    <c:plotArea>
      <c:lineChart>
        <c:grouping val="standard"/>
        <c:varyColors val="0"/>
        <c:ser>
          <c:idx val="0"/>
          <c:order val="0"/>
          <c:tx>
            <c:strRef>
              <c:f>Sheet1!$B$1</c:f>
              <c:strCache>
                <c:ptCount val="1"/>
                <c:pt idx="0">
                  <c:v>Forecast load (GW)</c:v>
                </c:pt>
              </c:strCache>
            </c:strRef>
          </c:tx>
          <c:marker>
            <c:symbol val="none"/>
          </c:marker>
          <c:cat>
            <c:strRef>
              <c:f>Sheet1!$A$2:$A$10</c:f>
              <c:strCache>
                <c:ptCount val="9"/>
                <c:pt idx="0">
                  <c:v>00</c:v>
                </c:pt>
                <c:pt idx="1">
                  <c:v>03</c:v>
                </c:pt>
                <c:pt idx="2">
                  <c:v>06</c:v>
                </c:pt>
                <c:pt idx="3">
                  <c:v>09</c:v>
                </c:pt>
                <c:pt idx="4">
                  <c:v>12</c:v>
                </c:pt>
                <c:pt idx="5">
                  <c:v>15</c:v>
                </c:pt>
                <c:pt idx="6">
                  <c:v>18</c:v>
                </c:pt>
                <c:pt idx="7">
                  <c:v>21</c:v>
                </c:pt>
                <c:pt idx="8">
                  <c:v>24</c:v>
                </c:pt>
              </c:strCache>
            </c:strRef>
          </c:cat>
          <c:val>
            <c:numRef>
              <c:f>Sheet1!$B$2:$B$10</c:f>
              <c:numCache>
                <c:formatCode>General</c:formatCode>
                <c:ptCount val="9"/>
                <c:pt idx="0">
                  <c:v>7.2</c:v>
                </c:pt>
                <c:pt idx="1">
                  <c:v>7</c:v>
                </c:pt>
                <c:pt idx="2">
                  <c:v>7.4</c:v>
                </c:pt>
                <c:pt idx="3">
                  <c:v>8</c:v>
                </c:pt>
                <c:pt idx="4">
                  <c:v>8.5</c:v>
                </c:pt>
                <c:pt idx="5">
                  <c:v>9.1</c:v>
                </c:pt>
                <c:pt idx="6">
                  <c:v>10.15</c:v>
                </c:pt>
                <c:pt idx="7">
                  <c:v>9</c:v>
                </c:pt>
                <c:pt idx="8">
                  <c:v>7.8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max val="11.0"/>
          <c:min val="6.5"/>
        </c:scaling>
        <c:delete val="0"/>
        <c:axPos val="l"/>
        <c:majorGridlines/>
        <c:majorTickMark val="out"/>
        <c:minorTickMark val="none"/>
        <c:tickLblPos val="nextTo"/>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EnergyNex is our AI decision-support platform for smarter grid operations. We convert energy telemetry into an explainable next action through forecasting, anomaly detection, root-cause analysis and optimisation.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operators face unpredictable demand spikes while renewable generation can be curtailed or underperform. The gap is predictive, explainable decision support. The ~8 TWh figure is from the supplied project brief and should be source-checked before public use.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EnergyNex follows a closed loop: observe, predict, detect, explain, recommend, optimise and report. The objective is an operator-ready next action, not another monitoring dashboard.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telemetry feeds the AI engine. Random Forest forecasts demand, Isolation Forest detects unusual asset behavior, and feature attribution explains it. Optimisation turns insights into feasible load-shifting actions; React, FastAPI and Streamlit provide interfaces.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 the demo predicts 10.15 GW at 18:00 UTC versus an 8.75 GW baseline, a 16% increase. Lead time allows pre-cooling, load deferral and dispatch preparation. These are supplied demo values.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2: Solar Farm A is expected at 120 MW but is producing 94 MW, a 21.7% deviation. Isolation Forest surfaces unusual telemetry patterns without needing exhaustive failure labels.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feature attribution turns an alarm into a reasoned story. In this demo, irradiance contributes 52%, temperature 23%, inverter subgroup B 18%, and soiling 7%. Treat these as demonstration outputs unless backed by measured model results.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4: the supplied scenario starts with 420 MW curtailed. The plan shifts 150 MW industrial load, increases dispatch 80 MW and reschedules 70 MW EV charging, absorbing 300 MW and leaving 120 MW. The 71.4% reduction follows from those values.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5: IBM Bob AI Copilot lets operators ask natural-language questions and receive evidence-backed explanations and actions. SAIDI and SAIFI shown are the supplied demo values, not measured utility performance unless validated.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stack is React/Vite/TypeScript/Tailwind/Leaflet/Recharts, FastAPI/Uvicorn, scikit-learn/Pandas/NumPy and Streamlit. Final message: EnergyNex does not just monitor the grid; it helps the grid decide. Replace verification badges with evidence actually available in the final build.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D12"/>
        </a:solidFill>
        <a:effectLst/>
      </p:bgPr>
    </p:bg>
    <p:spTree>
      <p:nvGrpSpPr>
        <p:cNvPr id="1" name=""/>
        <p:cNvGrpSpPr/>
        <p:nvPr/>
      </p:nvGrpSpPr>
      <p:grpSpPr/>
      <p:cxnSp>
        <p:nvCxnSpPr>
          <p:cNvPr id="2" name="Connector 1"/>
          <p:cNvCxnSpPr/>
          <p:nvPr/>
        </p:nvCxnSpPr>
        <p:spPr>
          <a:xfrm>
            <a:off x="59436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01168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42900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4632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26364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68096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09828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1560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0" y="54864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155448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256032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0" y="356616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0" y="457200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0" y="557784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955279" y="914400"/>
            <a:ext cx="3657601" cy="822960"/>
          </a:xfrm>
          <a:prstGeom prst="line">
            <a:avLst/>
          </a:prstGeom>
          <a:ln w="15240">
            <a:solidFill>
              <a:srgbClr val="22D3B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321040" y="1645920"/>
            <a:ext cx="2560320" cy="1097280"/>
          </a:xfrm>
          <a:prstGeom prst="line">
            <a:avLst/>
          </a:prstGeom>
          <a:ln w="15240">
            <a:solidFill>
              <a:srgbClr val="22D3B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589520" y="4114800"/>
            <a:ext cx="3657600" cy="1005840"/>
          </a:xfrm>
          <a:prstGeom prst="line">
            <a:avLst/>
          </a:prstGeom>
          <a:ln w="15240">
            <a:solidFill>
              <a:srgbClr val="22D3BE"/>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144000" y="2286000"/>
            <a:ext cx="2377440" cy="2011680"/>
          </a:xfrm>
          <a:prstGeom prst="line">
            <a:avLst/>
          </a:prstGeom>
          <a:ln w="15240">
            <a:solidFill>
              <a:srgbClr val="22D3BE"/>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7132320" y="2926080"/>
            <a:ext cx="2468880" cy="2286000"/>
          </a:xfrm>
          <a:prstGeom prst="line">
            <a:avLst/>
          </a:prstGeom>
          <a:ln w="15240">
            <a:solidFill>
              <a:srgbClr val="22D3BE"/>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891271" y="850392"/>
            <a:ext cx="128016" cy="128016"/>
          </a:xfrm>
          <a:prstGeom prst="ellipse">
            <a:avLst/>
          </a:prstGeom>
          <a:solidFill>
            <a:srgbClr val="70E777"/>
          </a:solidFill>
          <a:ln>
            <a:solidFill>
              <a:srgbClr val="70E7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548872" y="1673351"/>
            <a:ext cx="128016" cy="128016"/>
          </a:xfrm>
          <a:prstGeom prst="ellipse">
            <a:avLst/>
          </a:prstGeom>
          <a:solidFill>
            <a:srgbClr val="70E777"/>
          </a:solidFill>
          <a:ln>
            <a:solidFill>
              <a:srgbClr val="70E7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257031" y="1581912"/>
            <a:ext cx="128016" cy="128016"/>
          </a:xfrm>
          <a:prstGeom prst="ellipse">
            <a:avLst/>
          </a:prstGeom>
          <a:solidFill>
            <a:srgbClr val="70E777"/>
          </a:solidFill>
          <a:ln>
            <a:solidFill>
              <a:srgbClr val="70E7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817352" y="2679192"/>
            <a:ext cx="128016" cy="128016"/>
          </a:xfrm>
          <a:prstGeom prst="ellipse">
            <a:avLst/>
          </a:prstGeom>
          <a:solidFill>
            <a:srgbClr val="70E777"/>
          </a:solidFill>
          <a:ln>
            <a:solidFill>
              <a:srgbClr val="70E7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25512" y="4050791"/>
            <a:ext cx="128016" cy="128016"/>
          </a:xfrm>
          <a:prstGeom prst="ellipse">
            <a:avLst/>
          </a:prstGeom>
          <a:solidFill>
            <a:srgbClr val="70E777"/>
          </a:solidFill>
          <a:ln>
            <a:solidFill>
              <a:srgbClr val="70E7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183112" y="5056631"/>
            <a:ext cx="128016" cy="128016"/>
          </a:xfrm>
          <a:prstGeom prst="ellipse">
            <a:avLst/>
          </a:prstGeom>
          <a:solidFill>
            <a:srgbClr val="70E777"/>
          </a:solidFill>
          <a:ln>
            <a:solidFill>
              <a:srgbClr val="70E7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079992" y="2221992"/>
            <a:ext cx="128016" cy="128016"/>
          </a:xfrm>
          <a:prstGeom prst="ellipse">
            <a:avLst/>
          </a:prstGeom>
          <a:solidFill>
            <a:srgbClr val="70E777"/>
          </a:solidFill>
          <a:ln>
            <a:solidFill>
              <a:srgbClr val="70E7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457432" y="4233672"/>
            <a:ext cx="128016" cy="128016"/>
          </a:xfrm>
          <a:prstGeom prst="ellipse">
            <a:avLst/>
          </a:prstGeom>
          <a:solidFill>
            <a:srgbClr val="70E777"/>
          </a:solidFill>
          <a:ln>
            <a:solidFill>
              <a:srgbClr val="70E7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068312" y="5148072"/>
            <a:ext cx="128016" cy="128016"/>
          </a:xfrm>
          <a:prstGeom prst="ellipse">
            <a:avLst/>
          </a:prstGeom>
          <a:solidFill>
            <a:srgbClr val="70E777"/>
          </a:solidFill>
          <a:ln>
            <a:solidFill>
              <a:srgbClr val="70E7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537192" y="2862072"/>
            <a:ext cx="128016" cy="128016"/>
          </a:xfrm>
          <a:prstGeom prst="ellipse">
            <a:avLst/>
          </a:prstGeom>
          <a:solidFill>
            <a:srgbClr val="70E777"/>
          </a:solidFill>
          <a:ln>
            <a:solidFill>
              <a:srgbClr val="70E7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85800" y="685800"/>
            <a:ext cx="2880360" cy="310896"/>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694944"/>
            <a:ext cx="2880360" cy="256032"/>
          </a:xfrm>
          <a:prstGeom prst="rect">
            <a:avLst/>
          </a:prstGeom>
          <a:noFill/>
        </p:spPr>
        <p:txBody>
          <a:bodyPr wrap="square" anchor="ctr">
            <a:spAutoFit/>
          </a:bodyPr>
          <a:lstStyle/>
          <a:p>
            <a:pPr algn="ctr"/>
            <a:r>
              <a:rPr sz="900" b="1">
                <a:solidFill>
                  <a:srgbClr val="22D3BE"/>
                </a:solidFill>
                <a:latin typeface="Aptos"/>
              </a:rPr>
              <a:t>AI • SMART GRID • SUSTAINABILITY</a:t>
            </a:r>
          </a:p>
        </p:txBody>
      </p:sp>
      <p:sp>
        <p:nvSpPr>
          <p:cNvPr id="33" name="TextBox 32"/>
          <p:cNvSpPr txBox="1"/>
          <p:nvPr/>
        </p:nvSpPr>
        <p:spPr>
          <a:xfrm>
            <a:off x="658368" y="1417320"/>
            <a:ext cx="6400800" cy="777240"/>
          </a:xfrm>
          <a:prstGeom prst="rect">
            <a:avLst/>
          </a:prstGeom>
          <a:noFill/>
        </p:spPr>
        <p:txBody>
          <a:bodyPr wrap="square" anchor="ctr">
            <a:spAutoFit/>
          </a:bodyPr>
          <a:lstStyle/>
          <a:p>
            <a:pPr algn="l"/>
            <a:r>
              <a:rPr sz="4400" b="1">
                <a:solidFill>
                  <a:srgbClr val="EFF7F5"/>
                </a:solidFill>
                <a:latin typeface="Aptos"/>
              </a:rPr>
              <a:t>ENERGYNEX</a:t>
            </a:r>
          </a:p>
        </p:txBody>
      </p:sp>
      <p:sp>
        <p:nvSpPr>
          <p:cNvPr id="34" name="TextBox 33"/>
          <p:cNvSpPr txBox="1"/>
          <p:nvPr/>
        </p:nvSpPr>
        <p:spPr>
          <a:xfrm>
            <a:off x="685800" y="2212848"/>
            <a:ext cx="6400800" cy="548640"/>
          </a:xfrm>
          <a:prstGeom prst="rect">
            <a:avLst/>
          </a:prstGeom>
          <a:noFill/>
        </p:spPr>
        <p:txBody>
          <a:bodyPr wrap="square" anchor="ctr">
            <a:spAutoFit/>
          </a:bodyPr>
          <a:lstStyle/>
          <a:p>
            <a:pPr algn="l"/>
            <a:r>
              <a:rPr sz="2500" b="1">
                <a:solidFill>
                  <a:srgbClr val="22D3BE"/>
                </a:solidFill>
                <a:latin typeface="Aptos"/>
              </a:rPr>
              <a:t>The AI Brain for a Smarter Grid</a:t>
            </a:r>
          </a:p>
        </p:txBody>
      </p:sp>
      <p:sp>
        <p:nvSpPr>
          <p:cNvPr id="35" name="TextBox 34"/>
          <p:cNvSpPr txBox="1"/>
          <p:nvPr/>
        </p:nvSpPr>
        <p:spPr>
          <a:xfrm>
            <a:off x="704088" y="2852928"/>
            <a:ext cx="5943600" cy="685800"/>
          </a:xfrm>
          <a:prstGeom prst="rect">
            <a:avLst/>
          </a:prstGeom>
          <a:noFill/>
        </p:spPr>
        <p:txBody>
          <a:bodyPr wrap="square" anchor="ctr">
            <a:spAutoFit/>
          </a:bodyPr>
          <a:lstStyle/>
          <a:p>
            <a:pPr algn="l"/>
            <a:r>
              <a:rPr sz="1600" b="0">
                <a:solidFill>
                  <a:srgbClr val="EFF7F5"/>
                </a:solidFill>
                <a:latin typeface="Aptos"/>
              </a:rPr>
              <a:t>Grid Load Optimisation &amp; Renewable Energy Performance Advisor</a:t>
            </a:r>
          </a:p>
        </p:txBody>
      </p:sp>
      <p:sp>
        <p:nvSpPr>
          <p:cNvPr id="36" name="TextBox 35"/>
          <p:cNvSpPr txBox="1"/>
          <p:nvPr/>
        </p:nvSpPr>
        <p:spPr>
          <a:xfrm>
            <a:off x="704088" y="3730752"/>
            <a:ext cx="5303520" cy="365760"/>
          </a:xfrm>
          <a:prstGeom prst="rect">
            <a:avLst/>
          </a:prstGeom>
          <a:noFill/>
        </p:spPr>
        <p:txBody>
          <a:bodyPr wrap="square" anchor="ctr">
            <a:spAutoFit/>
          </a:bodyPr>
          <a:lstStyle/>
          <a:p>
            <a:pPr algn="l"/>
            <a:r>
              <a:rPr sz="1200" b="1">
                <a:solidFill>
                  <a:srgbClr val="97AEAD"/>
                </a:solidFill>
                <a:latin typeface="Aptos"/>
              </a:rPr>
              <a:t>Powered by GridOpt AI Decision Support Engine</a:t>
            </a:r>
          </a:p>
        </p:txBody>
      </p:sp>
      <p:sp>
        <p:nvSpPr>
          <p:cNvPr id="37" name="Rounded Rectangle 36"/>
          <p:cNvSpPr/>
          <p:nvPr/>
        </p:nvSpPr>
        <p:spPr>
          <a:xfrm>
            <a:off x="685800" y="4800600"/>
            <a:ext cx="5257800" cy="658368"/>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8680" y="4919472"/>
            <a:ext cx="4892040" cy="384048"/>
          </a:xfrm>
          <a:prstGeom prst="rect">
            <a:avLst/>
          </a:prstGeom>
          <a:noFill/>
        </p:spPr>
        <p:txBody>
          <a:bodyPr wrap="square" anchor="ctr">
            <a:spAutoFit/>
          </a:bodyPr>
          <a:lstStyle/>
          <a:p>
            <a:pPr algn="l"/>
            <a:r>
              <a:rPr sz="1000" b="1">
                <a:solidFill>
                  <a:srgbClr val="EFF7F5"/>
                </a:solidFill>
                <a:latin typeface="Aptos"/>
              </a:rPr>
              <a:t>IBM Bob AI Innovation Hackathon  •  Challenge U2 + Master Challenge</a:t>
            </a:r>
          </a:p>
        </p:txBody>
      </p:sp>
      <p:sp>
        <p:nvSpPr>
          <p:cNvPr id="39" name="TextBox 38"/>
          <p:cNvSpPr txBox="1"/>
          <p:nvPr/>
        </p:nvSpPr>
        <p:spPr>
          <a:xfrm>
            <a:off x="685800" y="5870448"/>
            <a:ext cx="6583680" cy="320040"/>
          </a:xfrm>
          <a:prstGeom prst="rect">
            <a:avLst/>
          </a:prstGeom>
          <a:noFill/>
        </p:spPr>
        <p:txBody>
          <a:bodyPr wrap="square" anchor="ctr">
            <a:spAutoFit/>
          </a:bodyPr>
          <a:lstStyle/>
          <a:p>
            <a:pPr algn="l"/>
            <a:r>
              <a:rPr sz="1100" b="1">
                <a:solidFill>
                  <a:srgbClr val="70E777"/>
                </a:solidFill>
                <a:latin typeface="Aptos"/>
              </a:rPr>
              <a:t>PREDICT  •  DETECT  •  EXPLAIN  •  OPTIMISE  •  ACT</a:t>
            </a:r>
          </a:p>
        </p:txBody>
      </p:sp>
      <p:cxnSp>
        <p:nvCxnSpPr>
          <p:cNvPr id="40" name="Connector 39"/>
          <p:cNvCxnSpPr/>
          <p:nvPr/>
        </p:nvCxnSpPr>
        <p:spPr>
          <a:xfrm>
            <a:off x="594360" y="6510528"/>
            <a:ext cx="11000232" cy="0"/>
          </a:xfrm>
          <a:prstGeom prst="line">
            <a:avLst/>
          </a:prstGeom>
          <a:ln w="10160">
            <a:solidFill>
              <a:srgbClr val="263A3E"/>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12648" y="6565392"/>
            <a:ext cx="4114800" cy="164592"/>
          </a:xfrm>
          <a:prstGeom prst="rect">
            <a:avLst/>
          </a:prstGeom>
          <a:noFill/>
        </p:spPr>
        <p:txBody>
          <a:bodyPr wrap="square" anchor="ctr">
            <a:spAutoFit/>
          </a:bodyPr>
          <a:lstStyle/>
          <a:p>
            <a:pPr algn="l"/>
            <a:r>
              <a:rPr sz="800" b="1">
                <a:solidFill>
                  <a:srgbClr val="97AEAD"/>
                </a:solidFill>
                <a:latin typeface="Aptos"/>
              </a:rPr>
              <a:t>ENERGYNEX  •  GRIDOPT AI</a:t>
            </a:r>
          </a:p>
        </p:txBody>
      </p:sp>
      <p:sp>
        <p:nvSpPr>
          <p:cNvPr id="42" name="TextBox 41"/>
          <p:cNvSpPr txBox="1"/>
          <p:nvPr/>
        </p:nvSpPr>
        <p:spPr>
          <a:xfrm>
            <a:off x="7589520" y="6565392"/>
            <a:ext cx="4023360" cy="164592"/>
          </a:xfrm>
          <a:prstGeom prst="rect">
            <a:avLst/>
          </a:prstGeom>
          <a:noFill/>
        </p:spPr>
        <p:txBody>
          <a:bodyPr wrap="square" anchor="ctr">
            <a:spAutoFit/>
          </a:bodyPr>
          <a:lstStyle/>
          <a:p>
            <a:pPr algn="r"/>
            <a:r>
              <a:rPr sz="800" b="1">
                <a:solidFill>
                  <a:srgbClr val="97AEAD"/>
                </a:solidFill>
                <a:latin typeface="Aptos"/>
              </a:rPr>
              <a:t>IBM BOB AI INNOVATION HACKATHON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D12"/>
        </a:solidFill>
        <a:effectLst/>
      </p:bgPr>
    </p:bg>
    <p:spTree>
      <p:nvGrpSpPr>
        <p:cNvPr id="1" name=""/>
        <p:cNvGrpSpPr/>
        <p:nvPr/>
      </p:nvGrpSpPr>
      <p:grpSpPr/>
      <p:cxnSp>
        <p:nvCxnSpPr>
          <p:cNvPr id="2" name="Connector 1"/>
          <p:cNvCxnSpPr/>
          <p:nvPr/>
        </p:nvCxnSpPr>
        <p:spPr>
          <a:xfrm>
            <a:off x="59436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01168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42900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4632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26364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68096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09828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1560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0" y="54864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155448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256032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0" y="356616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0" y="457200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0" y="557784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274320"/>
            <a:ext cx="1097280" cy="256032"/>
          </a:xfrm>
          <a:prstGeom prst="rect">
            <a:avLst/>
          </a:prstGeom>
          <a:noFill/>
        </p:spPr>
        <p:txBody>
          <a:bodyPr wrap="square" anchor="ctr">
            <a:spAutoFit/>
          </a:bodyPr>
          <a:lstStyle/>
          <a:p>
            <a:pPr algn="l"/>
            <a:r>
              <a:rPr sz="1000" b="1">
                <a:solidFill>
                  <a:srgbClr val="22D3BE"/>
                </a:solidFill>
                <a:latin typeface="Aptos"/>
              </a:rPr>
              <a:t>02  /  10</a:t>
            </a:r>
          </a:p>
        </p:txBody>
      </p:sp>
      <p:sp>
        <p:nvSpPr>
          <p:cNvPr id="17" name="TextBox 16"/>
          <p:cNvSpPr txBox="1"/>
          <p:nvPr/>
        </p:nvSpPr>
        <p:spPr>
          <a:xfrm>
            <a:off x="1600200" y="265176"/>
            <a:ext cx="3657600" cy="274320"/>
          </a:xfrm>
          <a:prstGeom prst="rect">
            <a:avLst/>
          </a:prstGeom>
          <a:noFill/>
        </p:spPr>
        <p:txBody>
          <a:bodyPr wrap="square" anchor="ctr">
            <a:spAutoFit/>
          </a:bodyPr>
          <a:lstStyle/>
          <a:p>
            <a:pPr algn="l"/>
            <a:r>
              <a:rPr sz="1000" b="1">
                <a:solidFill>
                  <a:srgbClr val="97AEAD"/>
                </a:solidFill>
                <a:latin typeface="Aptos"/>
              </a:rPr>
              <a:t>THE CHALLENGE</a:t>
            </a:r>
          </a:p>
        </p:txBody>
      </p:sp>
      <p:sp>
        <p:nvSpPr>
          <p:cNvPr id="18" name="TextBox 17"/>
          <p:cNvSpPr txBox="1"/>
          <p:nvPr/>
        </p:nvSpPr>
        <p:spPr>
          <a:xfrm>
            <a:off x="594360" y="713232"/>
            <a:ext cx="10972800" cy="566928"/>
          </a:xfrm>
          <a:prstGeom prst="rect">
            <a:avLst/>
          </a:prstGeom>
          <a:noFill/>
        </p:spPr>
        <p:txBody>
          <a:bodyPr wrap="square" anchor="ctr">
            <a:spAutoFit/>
          </a:bodyPr>
          <a:lstStyle/>
          <a:p>
            <a:pPr algn="l"/>
            <a:r>
              <a:rPr sz="2800" b="1">
                <a:solidFill>
                  <a:srgbClr val="EFF7F5"/>
                </a:solidFill>
                <a:latin typeface="Aptos"/>
              </a:rPr>
              <a:t>Clean Energy Is Being Wasted</a:t>
            </a:r>
          </a:p>
        </p:txBody>
      </p:sp>
      <p:sp>
        <p:nvSpPr>
          <p:cNvPr id="19" name="TextBox 18"/>
          <p:cNvSpPr txBox="1"/>
          <p:nvPr/>
        </p:nvSpPr>
        <p:spPr>
          <a:xfrm>
            <a:off x="612648" y="1298448"/>
            <a:ext cx="10789920" cy="365760"/>
          </a:xfrm>
          <a:prstGeom prst="rect">
            <a:avLst/>
          </a:prstGeom>
          <a:noFill/>
        </p:spPr>
        <p:txBody>
          <a:bodyPr wrap="square" anchor="ctr">
            <a:spAutoFit/>
          </a:bodyPr>
          <a:lstStyle/>
          <a:p>
            <a:pPr algn="l"/>
            <a:r>
              <a:rPr sz="1250" b="0">
                <a:solidFill>
                  <a:srgbClr val="97AEAD"/>
                </a:solidFill>
                <a:latin typeface="Aptos"/>
              </a:rPr>
              <a:t>Two grid problems collide: renewable curtailment and unpredictable demand stress.</a:t>
            </a:r>
          </a:p>
        </p:txBody>
      </p:sp>
      <p:sp>
        <p:nvSpPr>
          <p:cNvPr id="20" name="Rounded Rectangle 19"/>
          <p:cNvSpPr/>
          <p:nvPr/>
        </p:nvSpPr>
        <p:spPr>
          <a:xfrm>
            <a:off x="658368" y="1938528"/>
            <a:ext cx="2560320" cy="1051560"/>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2048256"/>
            <a:ext cx="2231136" cy="411480"/>
          </a:xfrm>
          <a:prstGeom prst="rect">
            <a:avLst/>
          </a:prstGeom>
          <a:noFill/>
        </p:spPr>
        <p:txBody>
          <a:bodyPr wrap="square" anchor="ctr">
            <a:spAutoFit/>
          </a:bodyPr>
          <a:lstStyle/>
          <a:p>
            <a:pPr algn="l"/>
            <a:r>
              <a:rPr sz="2500" b="1">
                <a:solidFill>
                  <a:srgbClr val="22D3BE"/>
                </a:solidFill>
                <a:latin typeface="Aptos"/>
              </a:rPr>
              <a:t>~8 TWh</a:t>
            </a:r>
          </a:p>
        </p:txBody>
      </p:sp>
      <p:sp>
        <p:nvSpPr>
          <p:cNvPr id="22" name="TextBox 21"/>
          <p:cNvSpPr txBox="1"/>
          <p:nvPr/>
        </p:nvSpPr>
        <p:spPr>
          <a:xfrm>
            <a:off x="822959" y="2560320"/>
            <a:ext cx="2231136" cy="228600"/>
          </a:xfrm>
          <a:prstGeom prst="rect">
            <a:avLst/>
          </a:prstGeom>
          <a:noFill/>
        </p:spPr>
        <p:txBody>
          <a:bodyPr wrap="square" anchor="ctr">
            <a:spAutoFit/>
          </a:bodyPr>
          <a:lstStyle/>
          <a:p>
            <a:pPr algn="l"/>
            <a:r>
              <a:rPr sz="950" b="1">
                <a:solidFill>
                  <a:srgbClr val="97AEAD"/>
                </a:solidFill>
                <a:latin typeface="Aptos"/>
              </a:rPr>
              <a:t>Clean energy curtailed annually*</a:t>
            </a:r>
          </a:p>
        </p:txBody>
      </p:sp>
      <p:sp>
        <p:nvSpPr>
          <p:cNvPr id="23" name="Rounded Rectangle 22"/>
          <p:cNvSpPr/>
          <p:nvPr/>
        </p:nvSpPr>
        <p:spPr>
          <a:xfrm>
            <a:off x="3401568" y="1938528"/>
            <a:ext cx="2560320" cy="1051560"/>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66160" y="2048256"/>
            <a:ext cx="2231136" cy="411480"/>
          </a:xfrm>
          <a:prstGeom prst="rect">
            <a:avLst/>
          </a:prstGeom>
          <a:noFill/>
        </p:spPr>
        <p:txBody>
          <a:bodyPr wrap="square" anchor="ctr">
            <a:spAutoFit/>
          </a:bodyPr>
          <a:lstStyle/>
          <a:p>
            <a:pPr algn="l"/>
            <a:r>
              <a:rPr sz="2500" b="1">
                <a:solidFill>
                  <a:srgbClr val="FFBE50"/>
                </a:solidFill>
                <a:latin typeface="Aptos"/>
              </a:rPr>
              <a:t>+16%</a:t>
            </a:r>
          </a:p>
        </p:txBody>
      </p:sp>
      <p:sp>
        <p:nvSpPr>
          <p:cNvPr id="25" name="TextBox 24"/>
          <p:cNvSpPr txBox="1"/>
          <p:nvPr/>
        </p:nvSpPr>
        <p:spPr>
          <a:xfrm>
            <a:off x="3566160" y="2560320"/>
            <a:ext cx="2231136" cy="228600"/>
          </a:xfrm>
          <a:prstGeom prst="rect">
            <a:avLst/>
          </a:prstGeom>
          <a:noFill/>
        </p:spPr>
        <p:txBody>
          <a:bodyPr wrap="square" anchor="ctr">
            <a:spAutoFit/>
          </a:bodyPr>
          <a:lstStyle/>
          <a:p>
            <a:pPr algn="l"/>
            <a:r>
              <a:rPr sz="950" b="1">
                <a:solidFill>
                  <a:srgbClr val="97AEAD"/>
                </a:solidFill>
                <a:latin typeface="Aptos"/>
              </a:rPr>
              <a:t>Illustrative demand surge in our demo</a:t>
            </a:r>
          </a:p>
        </p:txBody>
      </p:sp>
      <p:sp>
        <p:nvSpPr>
          <p:cNvPr id="26" name="Rounded Rectangle 25"/>
          <p:cNvSpPr/>
          <p:nvPr/>
        </p:nvSpPr>
        <p:spPr>
          <a:xfrm>
            <a:off x="6144768" y="1938528"/>
            <a:ext cx="2560320" cy="1051560"/>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2048256"/>
            <a:ext cx="2231136" cy="411480"/>
          </a:xfrm>
          <a:prstGeom prst="rect">
            <a:avLst/>
          </a:prstGeom>
          <a:noFill/>
        </p:spPr>
        <p:txBody>
          <a:bodyPr wrap="square" anchor="ctr">
            <a:spAutoFit/>
          </a:bodyPr>
          <a:lstStyle/>
          <a:p>
            <a:pPr algn="l"/>
            <a:r>
              <a:rPr sz="2500" b="1">
                <a:solidFill>
                  <a:srgbClr val="48C9FF"/>
                </a:solidFill>
                <a:latin typeface="Aptos"/>
              </a:rPr>
              <a:t>3×</a:t>
            </a:r>
          </a:p>
        </p:txBody>
      </p:sp>
      <p:sp>
        <p:nvSpPr>
          <p:cNvPr id="28" name="TextBox 27"/>
          <p:cNvSpPr txBox="1"/>
          <p:nvPr/>
        </p:nvSpPr>
        <p:spPr>
          <a:xfrm>
            <a:off x="6309359" y="2560320"/>
            <a:ext cx="2231136" cy="228600"/>
          </a:xfrm>
          <a:prstGeom prst="rect">
            <a:avLst/>
          </a:prstGeom>
          <a:noFill/>
        </p:spPr>
        <p:txBody>
          <a:bodyPr wrap="square" anchor="ctr">
            <a:spAutoFit/>
          </a:bodyPr>
          <a:lstStyle/>
          <a:p>
            <a:pPr algn="l"/>
            <a:r>
              <a:rPr sz="950" b="1">
                <a:solidFill>
                  <a:srgbClr val="97AEAD"/>
                </a:solidFill>
                <a:latin typeface="Aptos"/>
              </a:rPr>
              <a:t>Operational blind spots</a:t>
            </a:r>
          </a:p>
        </p:txBody>
      </p:sp>
      <p:sp>
        <p:nvSpPr>
          <p:cNvPr id="29" name="Rounded Rectangle 28"/>
          <p:cNvSpPr/>
          <p:nvPr/>
        </p:nvSpPr>
        <p:spPr>
          <a:xfrm>
            <a:off x="8887968" y="1938528"/>
            <a:ext cx="2560320" cy="1051560"/>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52560" y="2048256"/>
            <a:ext cx="2231136" cy="411480"/>
          </a:xfrm>
          <a:prstGeom prst="rect">
            <a:avLst/>
          </a:prstGeom>
          <a:noFill/>
        </p:spPr>
        <p:txBody>
          <a:bodyPr wrap="square" anchor="ctr">
            <a:spAutoFit/>
          </a:bodyPr>
          <a:lstStyle/>
          <a:p>
            <a:pPr algn="l"/>
            <a:r>
              <a:rPr sz="2500" b="1">
                <a:solidFill>
                  <a:srgbClr val="70E777"/>
                </a:solidFill>
                <a:latin typeface="Aptos"/>
              </a:rPr>
              <a:t>$ / ⚡</a:t>
            </a:r>
          </a:p>
        </p:txBody>
      </p:sp>
      <p:sp>
        <p:nvSpPr>
          <p:cNvPr id="31" name="TextBox 30"/>
          <p:cNvSpPr txBox="1"/>
          <p:nvPr/>
        </p:nvSpPr>
        <p:spPr>
          <a:xfrm>
            <a:off x="9052560" y="2560320"/>
            <a:ext cx="2231136" cy="228600"/>
          </a:xfrm>
          <a:prstGeom prst="rect">
            <a:avLst/>
          </a:prstGeom>
          <a:noFill/>
        </p:spPr>
        <p:txBody>
          <a:bodyPr wrap="square" anchor="ctr">
            <a:spAutoFit/>
          </a:bodyPr>
          <a:lstStyle/>
          <a:p>
            <a:pPr algn="l"/>
            <a:r>
              <a:rPr sz="950" b="1">
                <a:solidFill>
                  <a:srgbClr val="97AEAD"/>
                </a:solidFill>
                <a:latin typeface="Aptos"/>
              </a:rPr>
              <a:t>Wasted energy = lost value</a:t>
            </a:r>
          </a:p>
        </p:txBody>
      </p:sp>
      <p:sp>
        <p:nvSpPr>
          <p:cNvPr id="32" name="Rounded Rectangle 31"/>
          <p:cNvSpPr/>
          <p:nvPr/>
        </p:nvSpPr>
        <p:spPr>
          <a:xfrm>
            <a:off x="658368" y="3310128"/>
            <a:ext cx="3429000" cy="2395728"/>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7" y="3511296"/>
            <a:ext cx="457200" cy="274320"/>
          </a:xfrm>
          <a:prstGeom prst="rect">
            <a:avLst/>
          </a:prstGeom>
          <a:noFill/>
        </p:spPr>
        <p:txBody>
          <a:bodyPr wrap="square" anchor="ctr">
            <a:spAutoFit/>
          </a:bodyPr>
          <a:lstStyle/>
          <a:p>
            <a:pPr algn="l"/>
            <a:r>
              <a:rPr sz="1000" b="1">
                <a:solidFill>
                  <a:srgbClr val="FFBE50"/>
                </a:solidFill>
                <a:latin typeface="Aptos"/>
              </a:rPr>
              <a:t>01</a:t>
            </a:r>
          </a:p>
        </p:txBody>
      </p:sp>
      <p:sp>
        <p:nvSpPr>
          <p:cNvPr id="34" name="TextBox 33"/>
          <p:cNvSpPr txBox="1"/>
          <p:nvPr/>
        </p:nvSpPr>
        <p:spPr>
          <a:xfrm>
            <a:off x="841247" y="3886200"/>
            <a:ext cx="2971800" cy="320040"/>
          </a:xfrm>
          <a:prstGeom prst="rect">
            <a:avLst/>
          </a:prstGeom>
          <a:noFill/>
        </p:spPr>
        <p:txBody>
          <a:bodyPr wrap="square" anchor="ctr">
            <a:spAutoFit/>
          </a:bodyPr>
          <a:lstStyle/>
          <a:p>
            <a:pPr algn="l"/>
            <a:r>
              <a:rPr sz="1500" b="1">
                <a:solidFill>
                  <a:srgbClr val="EFF7F5"/>
                </a:solidFill>
                <a:latin typeface="Aptos"/>
              </a:rPr>
              <a:t>PEAK SURGES</a:t>
            </a:r>
          </a:p>
        </p:txBody>
      </p:sp>
      <p:sp>
        <p:nvSpPr>
          <p:cNvPr id="35" name="TextBox 34"/>
          <p:cNvSpPr txBox="1"/>
          <p:nvPr/>
        </p:nvSpPr>
        <p:spPr>
          <a:xfrm>
            <a:off x="841247" y="4370832"/>
            <a:ext cx="2999232" cy="685800"/>
          </a:xfrm>
          <a:prstGeom prst="rect">
            <a:avLst/>
          </a:prstGeom>
          <a:noFill/>
        </p:spPr>
        <p:txBody>
          <a:bodyPr wrap="square" anchor="ctr">
            <a:spAutoFit/>
          </a:bodyPr>
          <a:lstStyle/>
          <a:p>
            <a:pPr algn="l"/>
            <a:r>
              <a:rPr sz="1100" b="0">
                <a:solidFill>
                  <a:srgbClr val="97AEAD"/>
                </a:solidFill>
                <a:latin typeface="Aptos"/>
              </a:rPr>
              <a:t>Sudden load spikes can stress feeders, transformers and system frequency.</a:t>
            </a:r>
          </a:p>
        </p:txBody>
      </p:sp>
      <p:sp>
        <p:nvSpPr>
          <p:cNvPr id="36" name="Rounded Rectangle 35"/>
          <p:cNvSpPr/>
          <p:nvPr/>
        </p:nvSpPr>
        <p:spPr>
          <a:xfrm>
            <a:off x="841247" y="5230368"/>
            <a:ext cx="1417320" cy="310896"/>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7" y="5239512"/>
            <a:ext cx="1417320" cy="256032"/>
          </a:xfrm>
          <a:prstGeom prst="rect">
            <a:avLst/>
          </a:prstGeom>
          <a:noFill/>
        </p:spPr>
        <p:txBody>
          <a:bodyPr wrap="square" anchor="ctr">
            <a:spAutoFit/>
          </a:bodyPr>
          <a:lstStyle/>
          <a:p>
            <a:pPr algn="ctr"/>
            <a:r>
              <a:rPr sz="900" b="1">
                <a:solidFill>
                  <a:srgbClr val="FFBE50"/>
                </a:solidFill>
                <a:latin typeface="Aptos"/>
              </a:rPr>
              <a:t>PREDICT EARLY</a:t>
            </a:r>
          </a:p>
        </p:txBody>
      </p:sp>
      <p:sp>
        <p:nvSpPr>
          <p:cNvPr id="38" name="Rounded Rectangle 37"/>
          <p:cNvSpPr/>
          <p:nvPr/>
        </p:nvSpPr>
        <p:spPr>
          <a:xfrm>
            <a:off x="4407407" y="3310128"/>
            <a:ext cx="3429000" cy="2395728"/>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90288" y="3511296"/>
            <a:ext cx="457200" cy="274320"/>
          </a:xfrm>
          <a:prstGeom prst="rect">
            <a:avLst/>
          </a:prstGeom>
          <a:noFill/>
        </p:spPr>
        <p:txBody>
          <a:bodyPr wrap="square" anchor="ctr">
            <a:spAutoFit/>
          </a:bodyPr>
          <a:lstStyle/>
          <a:p>
            <a:pPr algn="l"/>
            <a:r>
              <a:rPr sz="1000" b="1">
                <a:solidFill>
                  <a:srgbClr val="22D3BE"/>
                </a:solidFill>
                <a:latin typeface="Aptos"/>
              </a:rPr>
              <a:t>02</a:t>
            </a:r>
          </a:p>
        </p:txBody>
      </p:sp>
      <p:sp>
        <p:nvSpPr>
          <p:cNvPr id="40" name="TextBox 39"/>
          <p:cNvSpPr txBox="1"/>
          <p:nvPr/>
        </p:nvSpPr>
        <p:spPr>
          <a:xfrm>
            <a:off x="4590288" y="3886200"/>
            <a:ext cx="2971800" cy="320040"/>
          </a:xfrm>
          <a:prstGeom prst="rect">
            <a:avLst/>
          </a:prstGeom>
          <a:noFill/>
        </p:spPr>
        <p:txBody>
          <a:bodyPr wrap="square" anchor="ctr">
            <a:spAutoFit/>
          </a:bodyPr>
          <a:lstStyle/>
          <a:p>
            <a:pPr algn="l"/>
            <a:r>
              <a:rPr sz="1500" b="1">
                <a:solidFill>
                  <a:srgbClr val="EFF7F5"/>
                </a:solidFill>
                <a:latin typeface="Aptos"/>
              </a:rPr>
              <a:t>RENEWABLE LOSS</a:t>
            </a:r>
          </a:p>
        </p:txBody>
      </p:sp>
      <p:sp>
        <p:nvSpPr>
          <p:cNvPr id="41" name="TextBox 40"/>
          <p:cNvSpPr txBox="1"/>
          <p:nvPr/>
        </p:nvSpPr>
        <p:spPr>
          <a:xfrm>
            <a:off x="4590288" y="4370832"/>
            <a:ext cx="2999232" cy="685800"/>
          </a:xfrm>
          <a:prstGeom prst="rect">
            <a:avLst/>
          </a:prstGeom>
          <a:noFill/>
        </p:spPr>
        <p:txBody>
          <a:bodyPr wrap="square" anchor="ctr">
            <a:spAutoFit/>
          </a:bodyPr>
          <a:lstStyle/>
          <a:p>
            <a:pPr algn="l"/>
            <a:r>
              <a:rPr sz="1100" b="0">
                <a:solidFill>
                  <a:srgbClr val="97AEAD"/>
                </a:solidFill>
                <a:latin typeface="Aptos"/>
              </a:rPr>
              <a:t>Solar/wind assets can underperform without an obvious operational cause.</a:t>
            </a:r>
          </a:p>
        </p:txBody>
      </p:sp>
      <p:sp>
        <p:nvSpPr>
          <p:cNvPr id="42" name="Rounded Rectangle 41"/>
          <p:cNvSpPr/>
          <p:nvPr/>
        </p:nvSpPr>
        <p:spPr>
          <a:xfrm>
            <a:off x="4590288" y="5230368"/>
            <a:ext cx="1417320" cy="310896"/>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90288" y="5239512"/>
            <a:ext cx="1417320" cy="256032"/>
          </a:xfrm>
          <a:prstGeom prst="rect">
            <a:avLst/>
          </a:prstGeom>
          <a:noFill/>
        </p:spPr>
        <p:txBody>
          <a:bodyPr wrap="square" anchor="ctr">
            <a:spAutoFit/>
          </a:bodyPr>
          <a:lstStyle/>
          <a:p>
            <a:pPr algn="ctr"/>
            <a:r>
              <a:rPr sz="900" b="1">
                <a:solidFill>
                  <a:srgbClr val="22D3BE"/>
                </a:solidFill>
                <a:latin typeface="Aptos"/>
              </a:rPr>
              <a:t>DETECT FAST</a:t>
            </a:r>
          </a:p>
        </p:txBody>
      </p:sp>
      <p:sp>
        <p:nvSpPr>
          <p:cNvPr id="44" name="Rounded Rectangle 43"/>
          <p:cNvSpPr/>
          <p:nvPr/>
        </p:nvSpPr>
        <p:spPr>
          <a:xfrm>
            <a:off x="8156448" y="3310128"/>
            <a:ext cx="3429000" cy="2395728"/>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39327" y="3511296"/>
            <a:ext cx="457200" cy="274320"/>
          </a:xfrm>
          <a:prstGeom prst="rect">
            <a:avLst/>
          </a:prstGeom>
          <a:noFill/>
        </p:spPr>
        <p:txBody>
          <a:bodyPr wrap="square" anchor="ctr">
            <a:spAutoFit/>
          </a:bodyPr>
          <a:lstStyle/>
          <a:p>
            <a:pPr algn="l"/>
            <a:r>
              <a:rPr sz="1000" b="1">
                <a:solidFill>
                  <a:srgbClr val="48C9FF"/>
                </a:solidFill>
                <a:latin typeface="Aptos"/>
              </a:rPr>
              <a:t>03</a:t>
            </a:r>
          </a:p>
        </p:txBody>
      </p:sp>
      <p:sp>
        <p:nvSpPr>
          <p:cNvPr id="46" name="TextBox 45"/>
          <p:cNvSpPr txBox="1"/>
          <p:nvPr/>
        </p:nvSpPr>
        <p:spPr>
          <a:xfrm>
            <a:off x="8339327" y="3886200"/>
            <a:ext cx="2971800" cy="320040"/>
          </a:xfrm>
          <a:prstGeom prst="rect">
            <a:avLst/>
          </a:prstGeom>
          <a:noFill/>
        </p:spPr>
        <p:txBody>
          <a:bodyPr wrap="square" anchor="ctr">
            <a:spAutoFit/>
          </a:bodyPr>
          <a:lstStyle/>
          <a:p>
            <a:pPr algn="l"/>
            <a:r>
              <a:rPr sz="1500" b="1">
                <a:solidFill>
                  <a:srgbClr val="EFF7F5"/>
                </a:solidFill>
                <a:latin typeface="Aptos"/>
              </a:rPr>
              <a:t>BLACK-BOX DECISIONS</a:t>
            </a:r>
          </a:p>
        </p:txBody>
      </p:sp>
      <p:sp>
        <p:nvSpPr>
          <p:cNvPr id="47" name="TextBox 46"/>
          <p:cNvSpPr txBox="1"/>
          <p:nvPr/>
        </p:nvSpPr>
        <p:spPr>
          <a:xfrm>
            <a:off x="8339327" y="4370832"/>
            <a:ext cx="2999232" cy="685800"/>
          </a:xfrm>
          <a:prstGeom prst="rect">
            <a:avLst/>
          </a:prstGeom>
          <a:noFill/>
        </p:spPr>
        <p:txBody>
          <a:bodyPr wrap="square" anchor="ctr">
            <a:spAutoFit/>
          </a:bodyPr>
          <a:lstStyle/>
          <a:p>
            <a:pPr algn="l"/>
            <a:r>
              <a:rPr sz="1100" b="0">
                <a:solidFill>
                  <a:srgbClr val="97AEAD"/>
                </a:solidFill>
                <a:latin typeface="Aptos"/>
              </a:rPr>
              <a:t>Operators need evidence, not just alarms, before taking action.</a:t>
            </a:r>
          </a:p>
        </p:txBody>
      </p:sp>
      <p:sp>
        <p:nvSpPr>
          <p:cNvPr id="48" name="Rounded Rectangle 47"/>
          <p:cNvSpPr/>
          <p:nvPr/>
        </p:nvSpPr>
        <p:spPr>
          <a:xfrm>
            <a:off x="8339327" y="5230368"/>
            <a:ext cx="1417320" cy="310896"/>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339327" y="5239512"/>
            <a:ext cx="1417320" cy="256032"/>
          </a:xfrm>
          <a:prstGeom prst="rect">
            <a:avLst/>
          </a:prstGeom>
          <a:noFill/>
        </p:spPr>
        <p:txBody>
          <a:bodyPr wrap="square" anchor="ctr">
            <a:spAutoFit/>
          </a:bodyPr>
          <a:lstStyle/>
          <a:p>
            <a:pPr algn="ctr"/>
            <a:r>
              <a:rPr sz="900" b="1">
                <a:solidFill>
                  <a:srgbClr val="48C9FF"/>
                </a:solidFill>
                <a:latin typeface="Aptos"/>
              </a:rPr>
              <a:t>EXPLAIN WHY</a:t>
            </a:r>
          </a:p>
        </p:txBody>
      </p:sp>
      <p:sp>
        <p:nvSpPr>
          <p:cNvPr id="50" name="TextBox 49"/>
          <p:cNvSpPr txBox="1"/>
          <p:nvPr/>
        </p:nvSpPr>
        <p:spPr>
          <a:xfrm>
            <a:off x="658368" y="5897880"/>
            <a:ext cx="10789920" cy="274320"/>
          </a:xfrm>
          <a:prstGeom prst="rect">
            <a:avLst/>
          </a:prstGeom>
          <a:noFill/>
        </p:spPr>
        <p:txBody>
          <a:bodyPr wrap="square" anchor="ctr">
            <a:spAutoFit/>
          </a:bodyPr>
          <a:lstStyle/>
          <a:p>
            <a:pPr algn="l"/>
            <a:r>
              <a:rPr sz="800" b="0">
                <a:solidFill>
                  <a:srgbClr val="97AEAD"/>
                </a:solidFill>
                <a:latin typeface="Aptos"/>
              </a:rPr>
              <a:t>*Benchmark from the supplied project brief; validate the final source before public submission.</a:t>
            </a:r>
          </a:p>
        </p:txBody>
      </p:sp>
      <p:cxnSp>
        <p:nvCxnSpPr>
          <p:cNvPr id="51" name="Connector 50"/>
          <p:cNvCxnSpPr/>
          <p:nvPr/>
        </p:nvCxnSpPr>
        <p:spPr>
          <a:xfrm>
            <a:off x="594360" y="6510528"/>
            <a:ext cx="11000232" cy="0"/>
          </a:xfrm>
          <a:prstGeom prst="line">
            <a:avLst/>
          </a:prstGeom>
          <a:ln w="10160">
            <a:solidFill>
              <a:srgbClr val="263A3E"/>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612648" y="6565392"/>
            <a:ext cx="4114800" cy="164592"/>
          </a:xfrm>
          <a:prstGeom prst="rect">
            <a:avLst/>
          </a:prstGeom>
          <a:noFill/>
        </p:spPr>
        <p:txBody>
          <a:bodyPr wrap="square" anchor="ctr">
            <a:spAutoFit/>
          </a:bodyPr>
          <a:lstStyle/>
          <a:p>
            <a:pPr algn="l"/>
            <a:r>
              <a:rPr sz="800" b="1">
                <a:solidFill>
                  <a:srgbClr val="97AEAD"/>
                </a:solidFill>
                <a:latin typeface="Aptos"/>
              </a:rPr>
              <a:t>ENERGYNEX  •  GRIDOPT AI</a:t>
            </a:r>
          </a:p>
        </p:txBody>
      </p:sp>
      <p:sp>
        <p:nvSpPr>
          <p:cNvPr id="53" name="TextBox 52"/>
          <p:cNvSpPr txBox="1"/>
          <p:nvPr/>
        </p:nvSpPr>
        <p:spPr>
          <a:xfrm>
            <a:off x="7589520" y="6565392"/>
            <a:ext cx="4023360" cy="164592"/>
          </a:xfrm>
          <a:prstGeom prst="rect">
            <a:avLst/>
          </a:prstGeom>
          <a:noFill/>
        </p:spPr>
        <p:txBody>
          <a:bodyPr wrap="square" anchor="ctr">
            <a:spAutoFit/>
          </a:bodyPr>
          <a:lstStyle/>
          <a:p>
            <a:pPr algn="r"/>
            <a:r>
              <a:rPr sz="800" b="1">
                <a:solidFill>
                  <a:srgbClr val="97AEAD"/>
                </a:solidFill>
                <a:latin typeface="Aptos"/>
              </a:rPr>
              <a:t>IBM BOB AI INNOVATION HACKATHON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D12"/>
        </a:solidFill>
        <a:effectLst/>
      </p:bgPr>
    </p:bg>
    <p:spTree>
      <p:nvGrpSpPr>
        <p:cNvPr id="1" name=""/>
        <p:cNvGrpSpPr/>
        <p:nvPr/>
      </p:nvGrpSpPr>
      <p:grpSpPr/>
      <p:cxnSp>
        <p:nvCxnSpPr>
          <p:cNvPr id="2" name="Connector 1"/>
          <p:cNvCxnSpPr/>
          <p:nvPr/>
        </p:nvCxnSpPr>
        <p:spPr>
          <a:xfrm>
            <a:off x="59436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01168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42900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4632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26364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68096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09828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1560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0" y="54864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155448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256032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0" y="356616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0" y="457200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0" y="557784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274320"/>
            <a:ext cx="1097280" cy="256032"/>
          </a:xfrm>
          <a:prstGeom prst="rect">
            <a:avLst/>
          </a:prstGeom>
          <a:noFill/>
        </p:spPr>
        <p:txBody>
          <a:bodyPr wrap="square" anchor="ctr">
            <a:spAutoFit/>
          </a:bodyPr>
          <a:lstStyle/>
          <a:p>
            <a:pPr algn="l"/>
            <a:r>
              <a:rPr sz="1000" b="1">
                <a:solidFill>
                  <a:srgbClr val="22D3BE"/>
                </a:solidFill>
                <a:latin typeface="Aptos"/>
              </a:rPr>
              <a:t>03  /  10</a:t>
            </a:r>
          </a:p>
        </p:txBody>
      </p:sp>
      <p:sp>
        <p:nvSpPr>
          <p:cNvPr id="17" name="TextBox 16"/>
          <p:cNvSpPr txBox="1"/>
          <p:nvPr/>
        </p:nvSpPr>
        <p:spPr>
          <a:xfrm>
            <a:off x="1600200" y="265176"/>
            <a:ext cx="3657600" cy="274320"/>
          </a:xfrm>
          <a:prstGeom prst="rect">
            <a:avLst/>
          </a:prstGeom>
          <a:noFill/>
        </p:spPr>
        <p:txBody>
          <a:bodyPr wrap="square" anchor="ctr">
            <a:spAutoFit/>
          </a:bodyPr>
          <a:lstStyle/>
          <a:p>
            <a:pPr algn="l"/>
            <a:r>
              <a:rPr sz="1000" b="1">
                <a:solidFill>
                  <a:srgbClr val="97AEAD"/>
                </a:solidFill>
                <a:latin typeface="Aptos"/>
              </a:rPr>
              <a:t>THE SOLUTION</a:t>
            </a:r>
          </a:p>
        </p:txBody>
      </p:sp>
      <p:sp>
        <p:nvSpPr>
          <p:cNvPr id="18" name="TextBox 17"/>
          <p:cNvSpPr txBox="1"/>
          <p:nvPr/>
        </p:nvSpPr>
        <p:spPr>
          <a:xfrm>
            <a:off x="594360" y="713232"/>
            <a:ext cx="10972800" cy="566928"/>
          </a:xfrm>
          <a:prstGeom prst="rect">
            <a:avLst/>
          </a:prstGeom>
          <a:noFill/>
        </p:spPr>
        <p:txBody>
          <a:bodyPr wrap="square" anchor="ctr">
            <a:spAutoFit/>
          </a:bodyPr>
          <a:lstStyle/>
          <a:p>
            <a:pPr algn="l"/>
            <a:r>
              <a:rPr sz="2800" b="1">
                <a:solidFill>
                  <a:srgbClr val="EFF7F5"/>
                </a:solidFill>
                <a:latin typeface="Aptos"/>
              </a:rPr>
              <a:t>One Decision Loop From Telemetry to Action</a:t>
            </a:r>
          </a:p>
        </p:txBody>
      </p:sp>
      <p:sp>
        <p:nvSpPr>
          <p:cNvPr id="19" name="TextBox 18"/>
          <p:cNvSpPr txBox="1"/>
          <p:nvPr/>
        </p:nvSpPr>
        <p:spPr>
          <a:xfrm>
            <a:off x="612648" y="1298448"/>
            <a:ext cx="10789920" cy="365760"/>
          </a:xfrm>
          <a:prstGeom prst="rect">
            <a:avLst/>
          </a:prstGeom>
          <a:noFill/>
        </p:spPr>
        <p:txBody>
          <a:bodyPr wrap="square" anchor="ctr">
            <a:spAutoFit/>
          </a:bodyPr>
          <a:lstStyle/>
          <a:p>
            <a:pPr algn="l"/>
            <a:r>
              <a:rPr sz="1250" b="0">
                <a:solidFill>
                  <a:srgbClr val="97AEAD"/>
                </a:solidFill>
                <a:latin typeface="Aptos"/>
              </a:rPr>
              <a:t>EnergyNex connects monitoring, prediction, anomaly detection, explainability and optimisation.</a:t>
            </a:r>
          </a:p>
        </p:txBody>
      </p:sp>
      <p:sp>
        <p:nvSpPr>
          <p:cNvPr id="20" name="Rounded Rectangle 19"/>
          <p:cNvSpPr/>
          <p:nvPr/>
        </p:nvSpPr>
        <p:spPr>
          <a:xfrm>
            <a:off x="475488" y="2148840"/>
            <a:ext cx="1353312" cy="1353312"/>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1832" y="1938528"/>
            <a:ext cx="420624" cy="420624"/>
          </a:xfrm>
          <a:prstGeom prst="ellipse">
            <a:avLst/>
          </a:prstGeom>
          <a:solidFill>
            <a:srgbClr val="22D3BE"/>
          </a:solidFill>
          <a:ln>
            <a:solidFill>
              <a:srgbClr val="22D3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1832" y="1984248"/>
            <a:ext cx="420624" cy="219456"/>
          </a:xfrm>
          <a:prstGeom prst="rect">
            <a:avLst/>
          </a:prstGeom>
          <a:noFill/>
        </p:spPr>
        <p:txBody>
          <a:bodyPr wrap="square" anchor="ctr">
            <a:spAutoFit/>
          </a:bodyPr>
          <a:lstStyle/>
          <a:p>
            <a:pPr algn="ctr"/>
            <a:r>
              <a:rPr sz="800" b="1">
                <a:solidFill>
                  <a:srgbClr val="070D12"/>
                </a:solidFill>
                <a:latin typeface="Aptos"/>
              </a:rPr>
              <a:t>01</a:t>
            </a:r>
          </a:p>
        </p:txBody>
      </p:sp>
      <p:sp>
        <p:nvSpPr>
          <p:cNvPr id="23" name="TextBox 22"/>
          <p:cNvSpPr txBox="1"/>
          <p:nvPr/>
        </p:nvSpPr>
        <p:spPr>
          <a:xfrm>
            <a:off x="566928" y="2487168"/>
            <a:ext cx="1170432" cy="256032"/>
          </a:xfrm>
          <a:prstGeom prst="rect">
            <a:avLst/>
          </a:prstGeom>
          <a:noFill/>
        </p:spPr>
        <p:txBody>
          <a:bodyPr wrap="square" anchor="ctr">
            <a:spAutoFit/>
          </a:bodyPr>
          <a:lstStyle/>
          <a:p>
            <a:pPr algn="ctr"/>
            <a:r>
              <a:rPr sz="1000" b="1">
                <a:solidFill>
                  <a:srgbClr val="EFF7F5"/>
                </a:solidFill>
                <a:latin typeface="Aptos"/>
              </a:rPr>
              <a:t>OBSERVE</a:t>
            </a:r>
          </a:p>
        </p:txBody>
      </p:sp>
      <p:sp>
        <p:nvSpPr>
          <p:cNvPr id="24" name="TextBox 23"/>
          <p:cNvSpPr txBox="1"/>
          <p:nvPr/>
        </p:nvSpPr>
        <p:spPr>
          <a:xfrm>
            <a:off x="566928" y="2834640"/>
            <a:ext cx="1170432" cy="219456"/>
          </a:xfrm>
          <a:prstGeom prst="rect">
            <a:avLst/>
          </a:prstGeom>
          <a:noFill/>
        </p:spPr>
        <p:txBody>
          <a:bodyPr wrap="square" anchor="ctr">
            <a:spAutoFit/>
          </a:bodyPr>
          <a:lstStyle/>
          <a:p>
            <a:pPr algn="ctr"/>
            <a:r>
              <a:rPr sz="850" b="0">
                <a:solidFill>
                  <a:srgbClr val="97AEAD"/>
                </a:solidFill>
                <a:latin typeface="Aptos"/>
              </a:rPr>
              <a:t>Telemetry</a:t>
            </a:r>
          </a:p>
        </p:txBody>
      </p:sp>
      <p:cxnSp>
        <p:nvCxnSpPr>
          <p:cNvPr id="25" name="Connector 24"/>
          <p:cNvCxnSpPr/>
          <p:nvPr/>
        </p:nvCxnSpPr>
        <p:spPr>
          <a:xfrm>
            <a:off x="1837943" y="2825496"/>
            <a:ext cx="265177" cy="0"/>
          </a:xfrm>
          <a:prstGeom prst="line">
            <a:avLst/>
          </a:prstGeom>
          <a:ln w="22860">
            <a:solidFill>
              <a:srgbClr val="22D3BE"/>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2139696" y="2148840"/>
            <a:ext cx="1353312" cy="1353312"/>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606039" y="1938528"/>
            <a:ext cx="420624" cy="420624"/>
          </a:xfrm>
          <a:prstGeom prst="ellipse">
            <a:avLst/>
          </a:prstGeom>
          <a:solidFill>
            <a:srgbClr val="48C9FF"/>
          </a:solidFill>
          <a:ln>
            <a:solidFill>
              <a:srgbClr val="48C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06039" y="1984248"/>
            <a:ext cx="420624" cy="219456"/>
          </a:xfrm>
          <a:prstGeom prst="rect">
            <a:avLst/>
          </a:prstGeom>
          <a:noFill/>
        </p:spPr>
        <p:txBody>
          <a:bodyPr wrap="square" anchor="ctr">
            <a:spAutoFit/>
          </a:bodyPr>
          <a:lstStyle/>
          <a:p>
            <a:pPr algn="ctr"/>
            <a:r>
              <a:rPr sz="800" b="1">
                <a:solidFill>
                  <a:srgbClr val="070D12"/>
                </a:solidFill>
                <a:latin typeface="Aptos"/>
              </a:rPr>
              <a:t>02</a:t>
            </a:r>
          </a:p>
        </p:txBody>
      </p:sp>
      <p:sp>
        <p:nvSpPr>
          <p:cNvPr id="29" name="TextBox 28"/>
          <p:cNvSpPr txBox="1"/>
          <p:nvPr/>
        </p:nvSpPr>
        <p:spPr>
          <a:xfrm>
            <a:off x="2231136" y="2487168"/>
            <a:ext cx="1170432" cy="256032"/>
          </a:xfrm>
          <a:prstGeom prst="rect">
            <a:avLst/>
          </a:prstGeom>
          <a:noFill/>
        </p:spPr>
        <p:txBody>
          <a:bodyPr wrap="square" anchor="ctr">
            <a:spAutoFit/>
          </a:bodyPr>
          <a:lstStyle/>
          <a:p>
            <a:pPr algn="ctr"/>
            <a:r>
              <a:rPr sz="1000" b="1">
                <a:solidFill>
                  <a:srgbClr val="EFF7F5"/>
                </a:solidFill>
                <a:latin typeface="Aptos"/>
              </a:rPr>
              <a:t>PREDICT</a:t>
            </a:r>
          </a:p>
        </p:txBody>
      </p:sp>
      <p:sp>
        <p:nvSpPr>
          <p:cNvPr id="30" name="TextBox 29"/>
          <p:cNvSpPr txBox="1"/>
          <p:nvPr/>
        </p:nvSpPr>
        <p:spPr>
          <a:xfrm>
            <a:off x="2231136" y="2834640"/>
            <a:ext cx="1170432" cy="219456"/>
          </a:xfrm>
          <a:prstGeom prst="rect">
            <a:avLst/>
          </a:prstGeom>
          <a:noFill/>
        </p:spPr>
        <p:txBody>
          <a:bodyPr wrap="square" anchor="ctr">
            <a:spAutoFit/>
          </a:bodyPr>
          <a:lstStyle/>
          <a:p>
            <a:pPr algn="ctr"/>
            <a:r>
              <a:rPr sz="850" b="0">
                <a:solidFill>
                  <a:srgbClr val="97AEAD"/>
                </a:solidFill>
                <a:latin typeface="Aptos"/>
              </a:rPr>
              <a:t>Grid load</a:t>
            </a:r>
          </a:p>
        </p:txBody>
      </p:sp>
      <p:cxnSp>
        <p:nvCxnSpPr>
          <p:cNvPr id="31" name="Connector 30"/>
          <p:cNvCxnSpPr/>
          <p:nvPr/>
        </p:nvCxnSpPr>
        <p:spPr>
          <a:xfrm>
            <a:off x="3502152" y="2825496"/>
            <a:ext cx="265176" cy="0"/>
          </a:xfrm>
          <a:prstGeom prst="line">
            <a:avLst/>
          </a:prstGeom>
          <a:ln w="22860">
            <a:solidFill>
              <a:srgbClr val="48C9FF"/>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3803904" y="2148840"/>
            <a:ext cx="1353312" cy="1353312"/>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270248" y="1938528"/>
            <a:ext cx="420624" cy="420624"/>
          </a:xfrm>
          <a:prstGeom prst="ellipse">
            <a:avLst/>
          </a:prstGeom>
          <a:solidFill>
            <a:srgbClr val="70E777"/>
          </a:solidFill>
          <a:ln>
            <a:solidFill>
              <a:srgbClr val="70E7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70248" y="1984248"/>
            <a:ext cx="420624" cy="219456"/>
          </a:xfrm>
          <a:prstGeom prst="rect">
            <a:avLst/>
          </a:prstGeom>
          <a:noFill/>
        </p:spPr>
        <p:txBody>
          <a:bodyPr wrap="square" anchor="ctr">
            <a:spAutoFit/>
          </a:bodyPr>
          <a:lstStyle/>
          <a:p>
            <a:pPr algn="ctr"/>
            <a:r>
              <a:rPr sz="800" b="1">
                <a:solidFill>
                  <a:srgbClr val="070D12"/>
                </a:solidFill>
                <a:latin typeface="Aptos"/>
              </a:rPr>
              <a:t>03</a:t>
            </a:r>
          </a:p>
        </p:txBody>
      </p:sp>
      <p:sp>
        <p:nvSpPr>
          <p:cNvPr id="35" name="TextBox 34"/>
          <p:cNvSpPr txBox="1"/>
          <p:nvPr/>
        </p:nvSpPr>
        <p:spPr>
          <a:xfrm>
            <a:off x="3895344" y="2487168"/>
            <a:ext cx="1170432" cy="256032"/>
          </a:xfrm>
          <a:prstGeom prst="rect">
            <a:avLst/>
          </a:prstGeom>
          <a:noFill/>
        </p:spPr>
        <p:txBody>
          <a:bodyPr wrap="square" anchor="ctr">
            <a:spAutoFit/>
          </a:bodyPr>
          <a:lstStyle/>
          <a:p>
            <a:pPr algn="ctr"/>
            <a:r>
              <a:rPr sz="1000" b="1">
                <a:solidFill>
                  <a:srgbClr val="EFF7F5"/>
                </a:solidFill>
                <a:latin typeface="Aptos"/>
              </a:rPr>
              <a:t>DETECT</a:t>
            </a:r>
          </a:p>
        </p:txBody>
      </p:sp>
      <p:sp>
        <p:nvSpPr>
          <p:cNvPr id="36" name="TextBox 35"/>
          <p:cNvSpPr txBox="1"/>
          <p:nvPr/>
        </p:nvSpPr>
        <p:spPr>
          <a:xfrm>
            <a:off x="3895344" y="2834640"/>
            <a:ext cx="1170432" cy="219456"/>
          </a:xfrm>
          <a:prstGeom prst="rect">
            <a:avLst/>
          </a:prstGeom>
          <a:noFill/>
        </p:spPr>
        <p:txBody>
          <a:bodyPr wrap="square" anchor="ctr">
            <a:spAutoFit/>
          </a:bodyPr>
          <a:lstStyle/>
          <a:p>
            <a:pPr algn="ctr"/>
            <a:r>
              <a:rPr sz="850" b="0">
                <a:solidFill>
                  <a:srgbClr val="97AEAD"/>
                </a:solidFill>
                <a:latin typeface="Aptos"/>
              </a:rPr>
              <a:t>Anomalies</a:t>
            </a:r>
          </a:p>
        </p:txBody>
      </p:sp>
      <p:cxnSp>
        <p:nvCxnSpPr>
          <p:cNvPr id="37" name="Connector 36"/>
          <p:cNvCxnSpPr/>
          <p:nvPr/>
        </p:nvCxnSpPr>
        <p:spPr>
          <a:xfrm>
            <a:off x="5166360" y="2825496"/>
            <a:ext cx="265176" cy="0"/>
          </a:xfrm>
          <a:prstGeom prst="line">
            <a:avLst/>
          </a:prstGeom>
          <a:ln w="22860">
            <a:solidFill>
              <a:srgbClr val="70E777"/>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5468112" y="2148840"/>
            <a:ext cx="1353312" cy="1353312"/>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934456" y="1938528"/>
            <a:ext cx="420624" cy="420624"/>
          </a:xfrm>
          <a:prstGeom prst="ellipse">
            <a:avLst/>
          </a:prstGeom>
          <a:solidFill>
            <a:srgbClr val="FFBE50"/>
          </a:solidFill>
          <a:ln>
            <a:solidFill>
              <a:srgbClr val="FFBE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34456" y="1984248"/>
            <a:ext cx="420624" cy="219456"/>
          </a:xfrm>
          <a:prstGeom prst="rect">
            <a:avLst/>
          </a:prstGeom>
          <a:noFill/>
        </p:spPr>
        <p:txBody>
          <a:bodyPr wrap="square" anchor="ctr">
            <a:spAutoFit/>
          </a:bodyPr>
          <a:lstStyle/>
          <a:p>
            <a:pPr algn="ctr"/>
            <a:r>
              <a:rPr sz="800" b="1">
                <a:solidFill>
                  <a:srgbClr val="070D12"/>
                </a:solidFill>
                <a:latin typeface="Aptos"/>
              </a:rPr>
              <a:t>04</a:t>
            </a:r>
          </a:p>
        </p:txBody>
      </p:sp>
      <p:sp>
        <p:nvSpPr>
          <p:cNvPr id="41" name="TextBox 40"/>
          <p:cNvSpPr txBox="1"/>
          <p:nvPr/>
        </p:nvSpPr>
        <p:spPr>
          <a:xfrm>
            <a:off x="5559552" y="2487168"/>
            <a:ext cx="1170432" cy="256032"/>
          </a:xfrm>
          <a:prstGeom prst="rect">
            <a:avLst/>
          </a:prstGeom>
          <a:noFill/>
        </p:spPr>
        <p:txBody>
          <a:bodyPr wrap="square" anchor="ctr">
            <a:spAutoFit/>
          </a:bodyPr>
          <a:lstStyle/>
          <a:p>
            <a:pPr algn="ctr"/>
            <a:r>
              <a:rPr sz="1000" b="1">
                <a:solidFill>
                  <a:srgbClr val="EFF7F5"/>
                </a:solidFill>
                <a:latin typeface="Aptos"/>
              </a:rPr>
              <a:t>EXPLAIN</a:t>
            </a:r>
          </a:p>
        </p:txBody>
      </p:sp>
      <p:sp>
        <p:nvSpPr>
          <p:cNvPr id="42" name="TextBox 41"/>
          <p:cNvSpPr txBox="1"/>
          <p:nvPr/>
        </p:nvSpPr>
        <p:spPr>
          <a:xfrm>
            <a:off x="5559552" y="2834640"/>
            <a:ext cx="1170432" cy="219456"/>
          </a:xfrm>
          <a:prstGeom prst="rect">
            <a:avLst/>
          </a:prstGeom>
          <a:noFill/>
        </p:spPr>
        <p:txBody>
          <a:bodyPr wrap="square" anchor="ctr">
            <a:spAutoFit/>
          </a:bodyPr>
          <a:lstStyle/>
          <a:p>
            <a:pPr algn="ctr"/>
            <a:r>
              <a:rPr sz="850" b="0">
                <a:solidFill>
                  <a:srgbClr val="97AEAD"/>
                </a:solidFill>
                <a:latin typeface="Aptos"/>
              </a:rPr>
              <a:t>Root cause</a:t>
            </a:r>
          </a:p>
        </p:txBody>
      </p:sp>
      <p:cxnSp>
        <p:nvCxnSpPr>
          <p:cNvPr id="43" name="Connector 42"/>
          <p:cNvCxnSpPr/>
          <p:nvPr/>
        </p:nvCxnSpPr>
        <p:spPr>
          <a:xfrm>
            <a:off x="6830568" y="2825496"/>
            <a:ext cx="265176" cy="0"/>
          </a:xfrm>
          <a:prstGeom prst="line">
            <a:avLst/>
          </a:prstGeom>
          <a:ln w="22860">
            <a:solidFill>
              <a:srgbClr val="FFBE50"/>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7132320" y="2148840"/>
            <a:ext cx="1353312" cy="1353312"/>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598664" y="1938528"/>
            <a:ext cx="420624" cy="420624"/>
          </a:xfrm>
          <a:prstGeom prst="ellipse">
            <a:avLst/>
          </a:prstGeom>
          <a:solidFill>
            <a:srgbClr val="22D3BE"/>
          </a:solidFill>
          <a:ln>
            <a:solidFill>
              <a:srgbClr val="22D3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98664" y="1984248"/>
            <a:ext cx="420624" cy="219456"/>
          </a:xfrm>
          <a:prstGeom prst="rect">
            <a:avLst/>
          </a:prstGeom>
          <a:noFill/>
        </p:spPr>
        <p:txBody>
          <a:bodyPr wrap="square" anchor="ctr">
            <a:spAutoFit/>
          </a:bodyPr>
          <a:lstStyle/>
          <a:p>
            <a:pPr algn="ctr"/>
            <a:r>
              <a:rPr sz="800" b="1">
                <a:solidFill>
                  <a:srgbClr val="070D12"/>
                </a:solidFill>
                <a:latin typeface="Aptos"/>
              </a:rPr>
              <a:t>05</a:t>
            </a:r>
          </a:p>
        </p:txBody>
      </p:sp>
      <p:sp>
        <p:nvSpPr>
          <p:cNvPr id="47" name="TextBox 46"/>
          <p:cNvSpPr txBox="1"/>
          <p:nvPr/>
        </p:nvSpPr>
        <p:spPr>
          <a:xfrm>
            <a:off x="7223760" y="2487168"/>
            <a:ext cx="1170432" cy="256032"/>
          </a:xfrm>
          <a:prstGeom prst="rect">
            <a:avLst/>
          </a:prstGeom>
          <a:noFill/>
        </p:spPr>
        <p:txBody>
          <a:bodyPr wrap="square" anchor="ctr">
            <a:spAutoFit/>
          </a:bodyPr>
          <a:lstStyle/>
          <a:p>
            <a:pPr algn="ctr"/>
            <a:r>
              <a:rPr sz="1000" b="1">
                <a:solidFill>
                  <a:srgbClr val="EFF7F5"/>
                </a:solidFill>
                <a:latin typeface="Aptos"/>
              </a:rPr>
              <a:t>RECOMMEND</a:t>
            </a:r>
          </a:p>
        </p:txBody>
      </p:sp>
      <p:sp>
        <p:nvSpPr>
          <p:cNvPr id="48" name="TextBox 47"/>
          <p:cNvSpPr txBox="1"/>
          <p:nvPr/>
        </p:nvSpPr>
        <p:spPr>
          <a:xfrm>
            <a:off x="7223760" y="2834640"/>
            <a:ext cx="1170432" cy="219456"/>
          </a:xfrm>
          <a:prstGeom prst="rect">
            <a:avLst/>
          </a:prstGeom>
          <a:noFill/>
        </p:spPr>
        <p:txBody>
          <a:bodyPr wrap="square" anchor="ctr">
            <a:spAutoFit/>
          </a:bodyPr>
          <a:lstStyle/>
          <a:p>
            <a:pPr algn="ctr"/>
            <a:r>
              <a:rPr sz="850" b="0">
                <a:solidFill>
                  <a:srgbClr val="97AEAD"/>
                </a:solidFill>
                <a:latin typeface="Aptos"/>
              </a:rPr>
              <a:t>Best action</a:t>
            </a:r>
          </a:p>
        </p:txBody>
      </p:sp>
      <p:cxnSp>
        <p:nvCxnSpPr>
          <p:cNvPr id="49" name="Connector 48"/>
          <p:cNvCxnSpPr/>
          <p:nvPr/>
        </p:nvCxnSpPr>
        <p:spPr>
          <a:xfrm>
            <a:off x="8494776" y="2825496"/>
            <a:ext cx="265176" cy="0"/>
          </a:xfrm>
          <a:prstGeom prst="line">
            <a:avLst/>
          </a:prstGeom>
          <a:ln w="22860">
            <a:solidFill>
              <a:srgbClr val="22D3BE"/>
            </a:solidFill>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8796528" y="2148840"/>
            <a:ext cx="1353312" cy="1353312"/>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262872" y="1938528"/>
            <a:ext cx="420624" cy="420624"/>
          </a:xfrm>
          <a:prstGeom prst="ellipse">
            <a:avLst/>
          </a:prstGeom>
          <a:solidFill>
            <a:srgbClr val="70E777"/>
          </a:solidFill>
          <a:ln>
            <a:solidFill>
              <a:srgbClr val="70E7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262872" y="1984248"/>
            <a:ext cx="420624" cy="219456"/>
          </a:xfrm>
          <a:prstGeom prst="rect">
            <a:avLst/>
          </a:prstGeom>
          <a:noFill/>
        </p:spPr>
        <p:txBody>
          <a:bodyPr wrap="square" anchor="ctr">
            <a:spAutoFit/>
          </a:bodyPr>
          <a:lstStyle/>
          <a:p>
            <a:pPr algn="ctr"/>
            <a:r>
              <a:rPr sz="800" b="1">
                <a:solidFill>
                  <a:srgbClr val="070D12"/>
                </a:solidFill>
                <a:latin typeface="Aptos"/>
              </a:rPr>
              <a:t>06</a:t>
            </a:r>
          </a:p>
        </p:txBody>
      </p:sp>
      <p:sp>
        <p:nvSpPr>
          <p:cNvPr id="53" name="TextBox 52"/>
          <p:cNvSpPr txBox="1"/>
          <p:nvPr/>
        </p:nvSpPr>
        <p:spPr>
          <a:xfrm>
            <a:off x="8887967" y="2487168"/>
            <a:ext cx="1170432" cy="256032"/>
          </a:xfrm>
          <a:prstGeom prst="rect">
            <a:avLst/>
          </a:prstGeom>
          <a:noFill/>
        </p:spPr>
        <p:txBody>
          <a:bodyPr wrap="square" anchor="ctr">
            <a:spAutoFit/>
          </a:bodyPr>
          <a:lstStyle/>
          <a:p>
            <a:pPr algn="ctr"/>
            <a:r>
              <a:rPr sz="1000" b="1">
                <a:solidFill>
                  <a:srgbClr val="EFF7F5"/>
                </a:solidFill>
                <a:latin typeface="Aptos"/>
              </a:rPr>
              <a:t>OPTIMISE</a:t>
            </a:r>
          </a:p>
        </p:txBody>
      </p:sp>
      <p:sp>
        <p:nvSpPr>
          <p:cNvPr id="54" name="TextBox 53"/>
          <p:cNvSpPr txBox="1"/>
          <p:nvPr/>
        </p:nvSpPr>
        <p:spPr>
          <a:xfrm>
            <a:off x="8887967" y="2834640"/>
            <a:ext cx="1170432" cy="219456"/>
          </a:xfrm>
          <a:prstGeom prst="rect">
            <a:avLst/>
          </a:prstGeom>
          <a:noFill/>
        </p:spPr>
        <p:txBody>
          <a:bodyPr wrap="square" anchor="ctr">
            <a:spAutoFit/>
          </a:bodyPr>
          <a:lstStyle/>
          <a:p>
            <a:pPr algn="ctr"/>
            <a:r>
              <a:rPr sz="850" b="0">
                <a:solidFill>
                  <a:srgbClr val="97AEAD"/>
                </a:solidFill>
                <a:latin typeface="Aptos"/>
              </a:rPr>
              <a:t>Shift load</a:t>
            </a:r>
          </a:p>
        </p:txBody>
      </p:sp>
      <p:cxnSp>
        <p:nvCxnSpPr>
          <p:cNvPr id="55" name="Connector 54"/>
          <p:cNvCxnSpPr/>
          <p:nvPr/>
        </p:nvCxnSpPr>
        <p:spPr>
          <a:xfrm>
            <a:off x="10158984" y="2825496"/>
            <a:ext cx="265175" cy="0"/>
          </a:xfrm>
          <a:prstGeom prst="line">
            <a:avLst/>
          </a:prstGeom>
          <a:ln w="22860">
            <a:solidFill>
              <a:srgbClr val="70E777"/>
            </a:solidFill>
          </a:ln>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10460736" y="2148840"/>
            <a:ext cx="1353312" cy="1353312"/>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0927080" y="1938528"/>
            <a:ext cx="420624" cy="420624"/>
          </a:xfrm>
          <a:prstGeom prst="ellipse">
            <a:avLst/>
          </a:prstGeom>
          <a:solidFill>
            <a:srgbClr val="48C9FF"/>
          </a:solidFill>
          <a:ln>
            <a:solidFill>
              <a:srgbClr val="48C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927080" y="1984248"/>
            <a:ext cx="420624" cy="219456"/>
          </a:xfrm>
          <a:prstGeom prst="rect">
            <a:avLst/>
          </a:prstGeom>
          <a:noFill/>
        </p:spPr>
        <p:txBody>
          <a:bodyPr wrap="square" anchor="ctr">
            <a:spAutoFit/>
          </a:bodyPr>
          <a:lstStyle/>
          <a:p>
            <a:pPr algn="ctr"/>
            <a:r>
              <a:rPr sz="800" b="1">
                <a:solidFill>
                  <a:srgbClr val="070D12"/>
                </a:solidFill>
                <a:latin typeface="Aptos"/>
              </a:rPr>
              <a:t>07</a:t>
            </a:r>
          </a:p>
        </p:txBody>
      </p:sp>
      <p:sp>
        <p:nvSpPr>
          <p:cNvPr id="59" name="TextBox 58"/>
          <p:cNvSpPr txBox="1"/>
          <p:nvPr/>
        </p:nvSpPr>
        <p:spPr>
          <a:xfrm>
            <a:off x="10552176" y="2487168"/>
            <a:ext cx="1170432" cy="256032"/>
          </a:xfrm>
          <a:prstGeom prst="rect">
            <a:avLst/>
          </a:prstGeom>
          <a:noFill/>
        </p:spPr>
        <p:txBody>
          <a:bodyPr wrap="square" anchor="ctr">
            <a:spAutoFit/>
          </a:bodyPr>
          <a:lstStyle/>
          <a:p>
            <a:pPr algn="ctr"/>
            <a:r>
              <a:rPr sz="1000" b="1">
                <a:solidFill>
                  <a:srgbClr val="EFF7F5"/>
                </a:solidFill>
                <a:latin typeface="Aptos"/>
              </a:rPr>
              <a:t>REPORT</a:t>
            </a:r>
          </a:p>
        </p:txBody>
      </p:sp>
      <p:sp>
        <p:nvSpPr>
          <p:cNvPr id="60" name="TextBox 59"/>
          <p:cNvSpPr txBox="1"/>
          <p:nvPr/>
        </p:nvSpPr>
        <p:spPr>
          <a:xfrm>
            <a:off x="10552176" y="2834640"/>
            <a:ext cx="1170432" cy="219456"/>
          </a:xfrm>
          <a:prstGeom prst="rect">
            <a:avLst/>
          </a:prstGeom>
          <a:noFill/>
        </p:spPr>
        <p:txBody>
          <a:bodyPr wrap="square" anchor="ctr">
            <a:spAutoFit/>
          </a:bodyPr>
          <a:lstStyle/>
          <a:p>
            <a:pPr algn="ctr"/>
            <a:r>
              <a:rPr sz="850" b="0">
                <a:solidFill>
                  <a:srgbClr val="97AEAD"/>
                </a:solidFill>
                <a:latin typeface="Aptos"/>
              </a:rPr>
              <a:t>Executive brief</a:t>
            </a:r>
          </a:p>
        </p:txBody>
      </p:sp>
      <p:sp>
        <p:nvSpPr>
          <p:cNvPr id="61" name="Rounded Rectangle 60"/>
          <p:cNvSpPr/>
          <p:nvPr/>
        </p:nvSpPr>
        <p:spPr>
          <a:xfrm>
            <a:off x="658368" y="4160520"/>
            <a:ext cx="10972800" cy="1417320"/>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68680" y="4343400"/>
            <a:ext cx="2377440" cy="256032"/>
          </a:xfrm>
          <a:prstGeom prst="rect">
            <a:avLst/>
          </a:prstGeom>
          <a:noFill/>
        </p:spPr>
        <p:txBody>
          <a:bodyPr wrap="square" anchor="ctr">
            <a:spAutoFit/>
          </a:bodyPr>
          <a:lstStyle/>
          <a:p>
            <a:pPr algn="l"/>
            <a:r>
              <a:rPr sz="1000" b="1">
                <a:solidFill>
                  <a:srgbClr val="22D3BE"/>
                </a:solidFill>
                <a:latin typeface="Aptos"/>
              </a:rPr>
              <a:t>WHAT THE OPERATOR GETS</a:t>
            </a:r>
          </a:p>
        </p:txBody>
      </p:sp>
      <p:sp>
        <p:nvSpPr>
          <p:cNvPr id="63" name="TextBox 62"/>
          <p:cNvSpPr txBox="1"/>
          <p:nvPr/>
        </p:nvSpPr>
        <p:spPr>
          <a:xfrm>
            <a:off x="868680" y="4681728"/>
            <a:ext cx="10241280" cy="438912"/>
          </a:xfrm>
          <a:prstGeom prst="rect">
            <a:avLst/>
          </a:prstGeom>
          <a:noFill/>
        </p:spPr>
        <p:txBody>
          <a:bodyPr wrap="square">
            <a:spAutoFit/>
          </a:bodyPr>
          <a:lstStyle/>
          <a:p>
            <a:r>
              <a:rPr sz="1400" b="1">
                <a:solidFill>
                  <a:srgbClr val="22D3BE"/>
                </a:solidFill>
                <a:latin typeface="Aptos"/>
              </a:rPr>
              <a:t>Real-time alerts  </a:t>
            </a:r>
            <a:r>
              <a:rPr sz="1400" b="0">
                <a:solidFill>
                  <a:srgbClr val="97AEAD"/>
                </a:solidFill>
                <a:latin typeface="Aptos"/>
              </a:rPr>
              <a:t>•  </a:t>
            </a:r>
            <a:r>
              <a:rPr sz="1400" b="1">
                <a:solidFill>
                  <a:srgbClr val="EFF7F5"/>
                </a:solidFill>
                <a:latin typeface="Aptos"/>
              </a:rPr>
              <a:t>evidence-backed recommendations  </a:t>
            </a:r>
            <a:r>
              <a:rPr sz="1400" b="0">
                <a:solidFill>
                  <a:srgbClr val="97AEAD"/>
                </a:solidFill>
                <a:latin typeface="Aptos"/>
              </a:rPr>
              <a:t>•  </a:t>
            </a:r>
            <a:r>
              <a:rPr sz="1400" b="1">
                <a:solidFill>
                  <a:srgbClr val="EFF7F5"/>
                </a:solidFill>
                <a:latin typeface="Aptos"/>
              </a:rPr>
              <a:t>flexible-load work orders  </a:t>
            </a:r>
            <a:r>
              <a:rPr sz="1400" b="0">
                <a:solidFill>
                  <a:srgbClr val="97AEAD"/>
                </a:solidFill>
                <a:latin typeface="Aptos"/>
              </a:rPr>
              <a:t>•  </a:t>
            </a:r>
            <a:r>
              <a:rPr sz="1400" b="1">
                <a:solidFill>
                  <a:srgbClr val="EFF7F5"/>
                </a:solidFill>
                <a:latin typeface="Aptos"/>
              </a:rPr>
              <a:t>curtailment absorption plans</a:t>
            </a:r>
          </a:p>
        </p:txBody>
      </p:sp>
      <p:sp>
        <p:nvSpPr>
          <p:cNvPr id="64" name="TextBox 63"/>
          <p:cNvSpPr txBox="1"/>
          <p:nvPr/>
        </p:nvSpPr>
        <p:spPr>
          <a:xfrm>
            <a:off x="868680" y="5230368"/>
            <a:ext cx="6400800" cy="256032"/>
          </a:xfrm>
          <a:prstGeom prst="rect">
            <a:avLst/>
          </a:prstGeom>
          <a:noFill/>
        </p:spPr>
        <p:txBody>
          <a:bodyPr wrap="square" anchor="ctr">
            <a:spAutoFit/>
          </a:bodyPr>
          <a:lstStyle/>
          <a:p>
            <a:pPr algn="l"/>
            <a:r>
              <a:rPr sz="1000" b="0">
                <a:solidFill>
                  <a:srgbClr val="97AEAD"/>
                </a:solidFill>
                <a:latin typeface="Aptos"/>
              </a:rPr>
              <a:t>From raw energy data → a prioritized next action.</a:t>
            </a:r>
          </a:p>
        </p:txBody>
      </p:sp>
      <p:cxnSp>
        <p:nvCxnSpPr>
          <p:cNvPr id="65" name="Connector 64"/>
          <p:cNvCxnSpPr/>
          <p:nvPr/>
        </p:nvCxnSpPr>
        <p:spPr>
          <a:xfrm>
            <a:off x="594360" y="6510528"/>
            <a:ext cx="11000232" cy="0"/>
          </a:xfrm>
          <a:prstGeom prst="line">
            <a:avLst/>
          </a:prstGeom>
          <a:ln w="10160">
            <a:solidFill>
              <a:srgbClr val="263A3E"/>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612648" y="6565392"/>
            <a:ext cx="4114800" cy="164592"/>
          </a:xfrm>
          <a:prstGeom prst="rect">
            <a:avLst/>
          </a:prstGeom>
          <a:noFill/>
        </p:spPr>
        <p:txBody>
          <a:bodyPr wrap="square" anchor="ctr">
            <a:spAutoFit/>
          </a:bodyPr>
          <a:lstStyle/>
          <a:p>
            <a:pPr algn="l"/>
            <a:r>
              <a:rPr sz="800" b="1">
                <a:solidFill>
                  <a:srgbClr val="97AEAD"/>
                </a:solidFill>
                <a:latin typeface="Aptos"/>
              </a:rPr>
              <a:t>ENERGYNEX  •  GRIDOPT AI</a:t>
            </a:r>
          </a:p>
        </p:txBody>
      </p:sp>
      <p:sp>
        <p:nvSpPr>
          <p:cNvPr id="67" name="TextBox 66"/>
          <p:cNvSpPr txBox="1"/>
          <p:nvPr/>
        </p:nvSpPr>
        <p:spPr>
          <a:xfrm>
            <a:off x="7589520" y="6565392"/>
            <a:ext cx="4023360" cy="164592"/>
          </a:xfrm>
          <a:prstGeom prst="rect">
            <a:avLst/>
          </a:prstGeom>
          <a:noFill/>
        </p:spPr>
        <p:txBody>
          <a:bodyPr wrap="square" anchor="ctr">
            <a:spAutoFit/>
          </a:bodyPr>
          <a:lstStyle/>
          <a:p>
            <a:pPr algn="r"/>
            <a:r>
              <a:rPr sz="800" b="1">
                <a:solidFill>
                  <a:srgbClr val="97AEAD"/>
                </a:solidFill>
                <a:latin typeface="Aptos"/>
              </a:rPr>
              <a:t>IBM BOB AI INNOVATION HACKATHON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D12"/>
        </a:solidFill>
        <a:effectLst/>
      </p:bgPr>
    </p:bg>
    <p:spTree>
      <p:nvGrpSpPr>
        <p:cNvPr id="1" name=""/>
        <p:cNvGrpSpPr/>
        <p:nvPr/>
      </p:nvGrpSpPr>
      <p:grpSpPr/>
      <p:cxnSp>
        <p:nvCxnSpPr>
          <p:cNvPr id="2" name="Connector 1"/>
          <p:cNvCxnSpPr/>
          <p:nvPr/>
        </p:nvCxnSpPr>
        <p:spPr>
          <a:xfrm>
            <a:off x="59436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01168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42900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4632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26364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68096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09828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1560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0" y="54864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155448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256032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0" y="356616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0" y="457200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0" y="557784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274320"/>
            <a:ext cx="1097280" cy="256032"/>
          </a:xfrm>
          <a:prstGeom prst="rect">
            <a:avLst/>
          </a:prstGeom>
          <a:noFill/>
        </p:spPr>
        <p:txBody>
          <a:bodyPr wrap="square" anchor="ctr">
            <a:spAutoFit/>
          </a:bodyPr>
          <a:lstStyle/>
          <a:p>
            <a:pPr algn="l"/>
            <a:r>
              <a:rPr sz="1000" b="1">
                <a:solidFill>
                  <a:srgbClr val="22D3BE"/>
                </a:solidFill>
                <a:latin typeface="Aptos"/>
              </a:rPr>
              <a:t>04  /  10</a:t>
            </a:r>
          </a:p>
        </p:txBody>
      </p:sp>
      <p:sp>
        <p:nvSpPr>
          <p:cNvPr id="17" name="TextBox 16"/>
          <p:cNvSpPr txBox="1"/>
          <p:nvPr/>
        </p:nvSpPr>
        <p:spPr>
          <a:xfrm>
            <a:off x="1600200" y="265176"/>
            <a:ext cx="3657600" cy="274320"/>
          </a:xfrm>
          <a:prstGeom prst="rect">
            <a:avLst/>
          </a:prstGeom>
          <a:noFill/>
        </p:spPr>
        <p:txBody>
          <a:bodyPr wrap="square" anchor="ctr">
            <a:spAutoFit/>
          </a:bodyPr>
          <a:lstStyle/>
          <a:p>
            <a:pPr algn="l"/>
            <a:r>
              <a:rPr sz="1000" b="1">
                <a:solidFill>
                  <a:srgbClr val="97AEAD"/>
                </a:solidFill>
                <a:latin typeface="Aptos"/>
              </a:rPr>
              <a:t>ARCHITECTURE</a:t>
            </a:r>
          </a:p>
        </p:txBody>
      </p:sp>
      <p:sp>
        <p:nvSpPr>
          <p:cNvPr id="18" name="TextBox 17"/>
          <p:cNvSpPr txBox="1"/>
          <p:nvPr/>
        </p:nvSpPr>
        <p:spPr>
          <a:xfrm>
            <a:off x="594360" y="713232"/>
            <a:ext cx="10972800" cy="566928"/>
          </a:xfrm>
          <a:prstGeom prst="rect">
            <a:avLst/>
          </a:prstGeom>
          <a:noFill/>
        </p:spPr>
        <p:txBody>
          <a:bodyPr wrap="square" anchor="ctr">
            <a:spAutoFit/>
          </a:bodyPr>
          <a:lstStyle/>
          <a:p>
            <a:pPr algn="l"/>
            <a:r>
              <a:rPr sz="2800" b="1">
                <a:solidFill>
                  <a:srgbClr val="EFF7F5"/>
                </a:solidFill>
                <a:latin typeface="Aptos"/>
              </a:rPr>
              <a:t>Production-Style AI Decision Support Stack</a:t>
            </a:r>
          </a:p>
        </p:txBody>
      </p:sp>
      <p:sp>
        <p:nvSpPr>
          <p:cNvPr id="19" name="TextBox 18"/>
          <p:cNvSpPr txBox="1"/>
          <p:nvPr/>
        </p:nvSpPr>
        <p:spPr>
          <a:xfrm>
            <a:off x="612648" y="1298448"/>
            <a:ext cx="10789920" cy="365760"/>
          </a:xfrm>
          <a:prstGeom prst="rect">
            <a:avLst/>
          </a:prstGeom>
          <a:noFill/>
        </p:spPr>
        <p:txBody>
          <a:bodyPr wrap="square" anchor="ctr">
            <a:spAutoFit/>
          </a:bodyPr>
          <a:lstStyle/>
          <a:p>
            <a:pPr algn="l"/>
            <a:r>
              <a:rPr sz="1250" b="0">
                <a:solidFill>
                  <a:srgbClr val="97AEAD"/>
                </a:solidFill>
                <a:latin typeface="Aptos"/>
              </a:rPr>
              <a:t>Modular services keep data, intelligence, optimisation and interfaces independently testable.</a:t>
            </a:r>
          </a:p>
        </p:txBody>
      </p:sp>
      <p:sp>
        <p:nvSpPr>
          <p:cNvPr id="20" name="Rounded Rectangle 19"/>
          <p:cNvSpPr/>
          <p:nvPr/>
        </p:nvSpPr>
        <p:spPr>
          <a:xfrm>
            <a:off x="658368" y="1828800"/>
            <a:ext cx="10927080" cy="768096"/>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86384" y="1938528"/>
            <a:ext cx="1417320" cy="548640"/>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2029968"/>
            <a:ext cx="1353312" cy="256032"/>
          </a:xfrm>
          <a:prstGeom prst="rect">
            <a:avLst/>
          </a:prstGeom>
          <a:noFill/>
        </p:spPr>
        <p:txBody>
          <a:bodyPr wrap="square" anchor="ctr">
            <a:spAutoFit/>
          </a:bodyPr>
          <a:lstStyle/>
          <a:p>
            <a:pPr algn="ctr"/>
            <a:r>
              <a:rPr sz="950" b="1">
                <a:solidFill>
                  <a:srgbClr val="22D3BE"/>
                </a:solidFill>
                <a:latin typeface="Aptos"/>
              </a:rPr>
              <a:t>DATA LAYER</a:t>
            </a:r>
          </a:p>
        </p:txBody>
      </p:sp>
      <p:sp>
        <p:nvSpPr>
          <p:cNvPr id="23" name="TextBox 22"/>
          <p:cNvSpPr txBox="1"/>
          <p:nvPr/>
        </p:nvSpPr>
        <p:spPr>
          <a:xfrm>
            <a:off x="2450592" y="1947672"/>
            <a:ext cx="4800600" cy="256032"/>
          </a:xfrm>
          <a:prstGeom prst="rect">
            <a:avLst/>
          </a:prstGeom>
          <a:noFill/>
        </p:spPr>
        <p:txBody>
          <a:bodyPr wrap="square" anchor="ctr">
            <a:spAutoFit/>
          </a:bodyPr>
          <a:lstStyle/>
          <a:p>
            <a:pPr algn="l"/>
            <a:r>
              <a:rPr sz="1200" b="1">
                <a:solidFill>
                  <a:srgbClr val="EFF7F5"/>
                </a:solidFill>
                <a:latin typeface="Aptos"/>
              </a:rPr>
              <a:t>Smart meters • Solar/Wind telemetry • Weather</a:t>
            </a:r>
          </a:p>
        </p:txBody>
      </p:sp>
      <p:sp>
        <p:nvSpPr>
          <p:cNvPr id="24" name="TextBox 23"/>
          <p:cNvSpPr txBox="1"/>
          <p:nvPr/>
        </p:nvSpPr>
        <p:spPr>
          <a:xfrm>
            <a:off x="2450592" y="2231136"/>
            <a:ext cx="8001000" cy="210312"/>
          </a:xfrm>
          <a:prstGeom prst="rect">
            <a:avLst/>
          </a:prstGeom>
          <a:noFill/>
        </p:spPr>
        <p:txBody>
          <a:bodyPr wrap="square" anchor="ctr">
            <a:spAutoFit/>
          </a:bodyPr>
          <a:lstStyle/>
          <a:p>
            <a:pPr algn="l"/>
            <a:r>
              <a:rPr sz="950" b="0">
                <a:solidFill>
                  <a:srgbClr val="97AEAD"/>
                </a:solidFill>
                <a:latin typeface="Aptos"/>
              </a:rPr>
              <a:t>kW • kWh • PF • V • irradiance • temperature • wind speed</a:t>
            </a:r>
          </a:p>
        </p:txBody>
      </p:sp>
      <p:cxnSp>
        <p:nvCxnSpPr>
          <p:cNvPr id="25" name="Connector 24"/>
          <p:cNvCxnSpPr/>
          <p:nvPr/>
        </p:nvCxnSpPr>
        <p:spPr>
          <a:xfrm>
            <a:off x="6172200" y="2606040"/>
            <a:ext cx="0" cy="210312"/>
          </a:xfrm>
          <a:prstGeom prst="line">
            <a:avLst/>
          </a:prstGeom>
          <a:ln w="17780">
            <a:solidFill>
              <a:srgbClr val="22D3BE"/>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58368" y="2816352"/>
            <a:ext cx="10927080" cy="768096"/>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86384" y="2926080"/>
            <a:ext cx="1417320" cy="548640"/>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017520"/>
            <a:ext cx="1353312" cy="256032"/>
          </a:xfrm>
          <a:prstGeom prst="rect">
            <a:avLst/>
          </a:prstGeom>
          <a:noFill/>
        </p:spPr>
        <p:txBody>
          <a:bodyPr wrap="square" anchor="ctr">
            <a:spAutoFit/>
          </a:bodyPr>
          <a:lstStyle/>
          <a:p>
            <a:pPr algn="ctr"/>
            <a:r>
              <a:rPr sz="950" b="1">
                <a:solidFill>
                  <a:srgbClr val="48C9FF"/>
                </a:solidFill>
                <a:latin typeface="Aptos"/>
              </a:rPr>
              <a:t>AI ENGINE</a:t>
            </a:r>
          </a:p>
        </p:txBody>
      </p:sp>
      <p:sp>
        <p:nvSpPr>
          <p:cNvPr id="29" name="TextBox 28"/>
          <p:cNvSpPr txBox="1"/>
          <p:nvPr/>
        </p:nvSpPr>
        <p:spPr>
          <a:xfrm>
            <a:off x="2450592" y="2935224"/>
            <a:ext cx="4800600" cy="256032"/>
          </a:xfrm>
          <a:prstGeom prst="rect">
            <a:avLst/>
          </a:prstGeom>
          <a:noFill/>
        </p:spPr>
        <p:txBody>
          <a:bodyPr wrap="square" anchor="ctr">
            <a:spAutoFit/>
          </a:bodyPr>
          <a:lstStyle/>
          <a:p>
            <a:pPr algn="l"/>
            <a:r>
              <a:rPr sz="1200" b="1">
                <a:solidFill>
                  <a:srgbClr val="EFF7F5"/>
                </a:solidFill>
                <a:latin typeface="Aptos"/>
              </a:rPr>
              <a:t>RandomForestRegressor • IsolationForest • Feature attribution</a:t>
            </a:r>
          </a:p>
        </p:txBody>
      </p:sp>
      <p:sp>
        <p:nvSpPr>
          <p:cNvPr id="30" name="TextBox 29"/>
          <p:cNvSpPr txBox="1"/>
          <p:nvPr/>
        </p:nvSpPr>
        <p:spPr>
          <a:xfrm>
            <a:off x="2450592" y="3218688"/>
            <a:ext cx="8001000" cy="210312"/>
          </a:xfrm>
          <a:prstGeom prst="rect">
            <a:avLst/>
          </a:prstGeom>
          <a:noFill/>
        </p:spPr>
        <p:txBody>
          <a:bodyPr wrap="square" anchor="ctr">
            <a:spAutoFit/>
          </a:bodyPr>
          <a:lstStyle/>
          <a:p>
            <a:pPr algn="l"/>
            <a:r>
              <a:rPr sz="950" b="0">
                <a:solidFill>
                  <a:srgbClr val="97AEAD"/>
                </a:solidFill>
                <a:latin typeface="Aptos"/>
              </a:rPr>
              <a:t>Demand forecast • anomaly score • explainable root cause</a:t>
            </a:r>
          </a:p>
        </p:txBody>
      </p:sp>
      <p:cxnSp>
        <p:nvCxnSpPr>
          <p:cNvPr id="31" name="Connector 30"/>
          <p:cNvCxnSpPr/>
          <p:nvPr/>
        </p:nvCxnSpPr>
        <p:spPr>
          <a:xfrm>
            <a:off x="6172200" y="3593592"/>
            <a:ext cx="0" cy="210312"/>
          </a:xfrm>
          <a:prstGeom prst="line">
            <a:avLst/>
          </a:prstGeom>
          <a:ln w="17780">
            <a:solidFill>
              <a:srgbClr val="48C9FF"/>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58368" y="3803904"/>
            <a:ext cx="10927080" cy="768096"/>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86384" y="3913632"/>
            <a:ext cx="1417320" cy="548640"/>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4005072"/>
            <a:ext cx="1353312" cy="256032"/>
          </a:xfrm>
          <a:prstGeom prst="rect">
            <a:avLst/>
          </a:prstGeom>
          <a:noFill/>
        </p:spPr>
        <p:txBody>
          <a:bodyPr wrap="square" anchor="ctr">
            <a:spAutoFit/>
          </a:bodyPr>
          <a:lstStyle/>
          <a:p>
            <a:pPr algn="ctr"/>
            <a:r>
              <a:rPr sz="950" b="1">
                <a:solidFill>
                  <a:srgbClr val="70E777"/>
                </a:solidFill>
                <a:latin typeface="Aptos"/>
              </a:rPr>
              <a:t>OPTIMISATION</a:t>
            </a:r>
          </a:p>
        </p:txBody>
      </p:sp>
      <p:sp>
        <p:nvSpPr>
          <p:cNvPr id="35" name="TextBox 34"/>
          <p:cNvSpPr txBox="1"/>
          <p:nvPr/>
        </p:nvSpPr>
        <p:spPr>
          <a:xfrm>
            <a:off x="2450592" y="3922776"/>
            <a:ext cx="4800600" cy="256032"/>
          </a:xfrm>
          <a:prstGeom prst="rect">
            <a:avLst/>
          </a:prstGeom>
          <a:noFill/>
        </p:spPr>
        <p:txBody>
          <a:bodyPr wrap="square" anchor="ctr">
            <a:spAutoFit/>
          </a:bodyPr>
          <a:lstStyle/>
          <a:p>
            <a:pPr algn="l"/>
            <a:r>
              <a:rPr sz="1200" b="1">
                <a:solidFill>
                  <a:srgbClr val="EFF7F5"/>
                </a:solidFill>
                <a:latin typeface="Aptos"/>
              </a:rPr>
              <a:t>Flexible load shifting • Curtailment absorption</a:t>
            </a:r>
          </a:p>
        </p:txBody>
      </p:sp>
      <p:sp>
        <p:nvSpPr>
          <p:cNvPr id="36" name="TextBox 35"/>
          <p:cNvSpPr txBox="1"/>
          <p:nvPr/>
        </p:nvSpPr>
        <p:spPr>
          <a:xfrm>
            <a:off x="2450592" y="4206240"/>
            <a:ext cx="8001000" cy="210312"/>
          </a:xfrm>
          <a:prstGeom prst="rect">
            <a:avLst/>
          </a:prstGeom>
          <a:noFill/>
        </p:spPr>
        <p:txBody>
          <a:bodyPr wrap="square" anchor="ctr">
            <a:spAutoFit/>
          </a:bodyPr>
          <a:lstStyle/>
          <a:p>
            <a:pPr algn="l"/>
            <a:r>
              <a:rPr sz="950" b="0">
                <a:solidFill>
                  <a:srgbClr val="97AEAD"/>
                </a:solidFill>
                <a:latin typeface="Aptos"/>
              </a:rPr>
              <a:t>Constraints • priorities • feasible dispatch actions</a:t>
            </a:r>
          </a:p>
        </p:txBody>
      </p:sp>
      <p:cxnSp>
        <p:nvCxnSpPr>
          <p:cNvPr id="37" name="Connector 36"/>
          <p:cNvCxnSpPr/>
          <p:nvPr/>
        </p:nvCxnSpPr>
        <p:spPr>
          <a:xfrm>
            <a:off x="6172200" y="4581144"/>
            <a:ext cx="0" cy="210312"/>
          </a:xfrm>
          <a:prstGeom prst="line">
            <a:avLst/>
          </a:prstGeom>
          <a:ln w="17780">
            <a:solidFill>
              <a:srgbClr val="70E777"/>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58368" y="4791456"/>
            <a:ext cx="10927080" cy="768096"/>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86384" y="4901184"/>
            <a:ext cx="1417320" cy="548640"/>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4992624"/>
            <a:ext cx="1353312" cy="256032"/>
          </a:xfrm>
          <a:prstGeom prst="rect">
            <a:avLst/>
          </a:prstGeom>
          <a:noFill/>
        </p:spPr>
        <p:txBody>
          <a:bodyPr wrap="square" anchor="ctr">
            <a:spAutoFit/>
          </a:bodyPr>
          <a:lstStyle/>
          <a:p>
            <a:pPr algn="ctr"/>
            <a:r>
              <a:rPr sz="950" b="1">
                <a:solidFill>
                  <a:srgbClr val="FFBE50"/>
                </a:solidFill>
                <a:latin typeface="Aptos"/>
              </a:rPr>
              <a:t>INTERFACE</a:t>
            </a:r>
          </a:p>
        </p:txBody>
      </p:sp>
      <p:sp>
        <p:nvSpPr>
          <p:cNvPr id="41" name="TextBox 40"/>
          <p:cNvSpPr txBox="1"/>
          <p:nvPr/>
        </p:nvSpPr>
        <p:spPr>
          <a:xfrm>
            <a:off x="2450592" y="4910328"/>
            <a:ext cx="4800600" cy="256032"/>
          </a:xfrm>
          <a:prstGeom prst="rect">
            <a:avLst/>
          </a:prstGeom>
          <a:noFill/>
        </p:spPr>
        <p:txBody>
          <a:bodyPr wrap="square" anchor="ctr">
            <a:spAutoFit/>
          </a:bodyPr>
          <a:lstStyle/>
          <a:p>
            <a:pPr algn="l"/>
            <a:r>
              <a:rPr sz="1200" b="1">
                <a:solidFill>
                  <a:srgbClr val="EFF7F5"/>
                </a:solidFill>
                <a:latin typeface="Aptos"/>
              </a:rPr>
              <a:t>FastAPI :8000 • React :3000 • Streamlit :8501</a:t>
            </a:r>
          </a:p>
        </p:txBody>
      </p:sp>
      <p:sp>
        <p:nvSpPr>
          <p:cNvPr id="42" name="TextBox 41"/>
          <p:cNvSpPr txBox="1"/>
          <p:nvPr/>
        </p:nvSpPr>
        <p:spPr>
          <a:xfrm>
            <a:off x="2450592" y="5193792"/>
            <a:ext cx="8001000" cy="210312"/>
          </a:xfrm>
          <a:prstGeom prst="rect">
            <a:avLst/>
          </a:prstGeom>
          <a:noFill/>
        </p:spPr>
        <p:txBody>
          <a:bodyPr wrap="square" anchor="ctr">
            <a:spAutoFit/>
          </a:bodyPr>
          <a:lstStyle/>
          <a:p>
            <a:pPr algn="l"/>
            <a:r>
              <a:rPr sz="950" b="0">
                <a:solidFill>
                  <a:srgbClr val="97AEAD"/>
                </a:solidFill>
                <a:latin typeface="Aptos"/>
              </a:rPr>
              <a:t>Operator Control Center • Analytics Lab • Reports</a:t>
            </a:r>
          </a:p>
        </p:txBody>
      </p:sp>
      <p:sp>
        <p:nvSpPr>
          <p:cNvPr id="43" name="Rounded Rectangle 42"/>
          <p:cNvSpPr/>
          <p:nvPr/>
        </p:nvSpPr>
        <p:spPr>
          <a:xfrm>
            <a:off x="9555480" y="438912"/>
            <a:ext cx="1965960" cy="621792"/>
          </a:xfrm>
          <a:prstGeom prst="roundRect">
            <a:avLst>
              <a:gd name="adj" fmla="val 12000"/>
            </a:avLst>
          </a:prstGeom>
          <a:solidFill>
            <a:srgbClr val="132228"/>
          </a:solidFill>
          <a:ln>
            <a:solidFill>
              <a:srgbClr val="22D3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74352" y="502920"/>
            <a:ext cx="1737360" cy="438912"/>
          </a:xfrm>
          <a:prstGeom prst="rect">
            <a:avLst/>
          </a:prstGeom>
          <a:noFill/>
        </p:spPr>
        <p:txBody>
          <a:bodyPr wrap="square" anchor="ctr">
            <a:spAutoFit/>
          </a:bodyPr>
          <a:lstStyle/>
          <a:p>
            <a:pPr algn="ctr"/>
            <a:r>
              <a:rPr sz="900" b="1">
                <a:solidFill>
                  <a:srgbClr val="22D3BE"/>
                </a:solidFill>
                <a:latin typeface="Aptos"/>
              </a:rPr>
              <a:t>GRIDOPT AI
DECISION SUPPORT</a:t>
            </a:r>
          </a:p>
        </p:txBody>
      </p:sp>
      <p:cxnSp>
        <p:nvCxnSpPr>
          <p:cNvPr id="45" name="Connector 44"/>
          <p:cNvCxnSpPr/>
          <p:nvPr/>
        </p:nvCxnSpPr>
        <p:spPr>
          <a:xfrm>
            <a:off x="594360" y="6510528"/>
            <a:ext cx="11000232" cy="0"/>
          </a:xfrm>
          <a:prstGeom prst="line">
            <a:avLst/>
          </a:prstGeom>
          <a:ln w="10160">
            <a:solidFill>
              <a:srgbClr val="263A3E"/>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12648" y="6565392"/>
            <a:ext cx="4114800" cy="164592"/>
          </a:xfrm>
          <a:prstGeom prst="rect">
            <a:avLst/>
          </a:prstGeom>
          <a:noFill/>
        </p:spPr>
        <p:txBody>
          <a:bodyPr wrap="square" anchor="ctr">
            <a:spAutoFit/>
          </a:bodyPr>
          <a:lstStyle/>
          <a:p>
            <a:pPr algn="l"/>
            <a:r>
              <a:rPr sz="800" b="1">
                <a:solidFill>
                  <a:srgbClr val="97AEAD"/>
                </a:solidFill>
                <a:latin typeface="Aptos"/>
              </a:rPr>
              <a:t>ENERGYNEX  •  GRIDOPT AI</a:t>
            </a:r>
          </a:p>
        </p:txBody>
      </p:sp>
      <p:sp>
        <p:nvSpPr>
          <p:cNvPr id="47" name="TextBox 46"/>
          <p:cNvSpPr txBox="1"/>
          <p:nvPr/>
        </p:nvSpPr>
        <p:spPr>
          <a:xfrm>
            <a:off x="7589520" y="6565392"/>
            <a:ext cx="4023360" cy="164592"/>
          </a:xfrm>
          <a:prstGeom prst="rect">
            <a:avLst/>
          </a:prstGeom>
          <a:noFill/>
        </p:spPr>
        <p:txBody>
          <a:bodyPr wrap="square" anchor="ctr">
            <a:spAutoFit/>
          </a:bodyPr>
          <a:lstStyle/>
          <a:p>
            <a:pPr algn="r"/>
            <a:r>
              <a:rPr sz="800" b="1">
                <a:solidFill>
                  <a:srgbClr val="97AEAD"/>
                </a:solidFill>
                <a:latin typeface="Aptos"/>
              </a:rPr>
              <a:t>IBM BOB AI INNOVATION HACKATHON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D12"/>
        </a:solidFill>
        <a:effectLst/>
      </p:bgPr>
    </p:bg>
    <p:spTree>
      <p:nvGrpSpPr>
        <p:cNvPr id="1" name=""/>
        <p:cNvGrpSpPr/>
        <p:nvPr/>
      </p:nvGrpSpPr>
      <p:grpSpPr/>
      <p:cxnSp>
        <p:nvCxnSpPr>
          <p:cNvPr id="2" name="Connector 1"/>
          <p:cNvCxnSpPr/>
          <p:nvPr/>
        </p:nvCxnSpPr>
        <p:spPr>
          <a:xfrm>
            <a:off x="59436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01168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42900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4632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26364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68096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09828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1560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0" y="54864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155448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256032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0" y="356616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0" y="457200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0" y="557784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274320"/>
            <a:ext cx="1097280" cy="256032"/>
          </a:xfrm>
          <a:prstGeom prst="rect">
            <a:avLst/>
          </a:prstGeom>
          <a:noFill/>
        </p:spPr>
        <p:txBody>
          <a:bodyPr wrap="square" anchor="ctr">
            <a:spAutoFit/>
          </a:bodyPr>
          <a:lstStyle/>
          <a:p>
            <a:pPr algn="l"/>
            <a:r>
              <a:rPr sz="1000" b="1">
                <a:solidFill>
                  <a:srgbClr val="22D3BE"/>
                </a:solidFill>
                <a:latin typeface="Aptos"/>
              </a:rPr>
              <a:t>05  /  10</a:t>
            </a:r>
          </a:p>
        </p:txBody>
      </p:sp>
      <p:sp>
        <p:nvSpPr>
          <p:cNvPr id="17" name="TextBox 16"/>
          <p:cNvSpPr txBox="1"/>
          <p:nvPr/>
        </p:nvSpPr>
        <p:spPr>
          <a:xfrm>
            <a:off x="1600200" y="265176"/>
            <a:ext cx="3657600" cy="274320"/>
          </a:xfrm>
          <a:prstGeom prst="rect">
            <a:avLst/>
          </a:prstGeom>
          <a:noFill/>
        </p:spPr>
        <p:txBody>
          <a:bodyPr wrap="square" anchor="ctr">
            <a:spAutoFit/>
          </a:bodyPr>
          <a:lstStyle/>
          <a:p>
            <a:pPr algn="l"/>
            <a:r>
              <a:rPr sz="1000" b="1">
                <a:solidFill>
                  <a:srgbClr val="97AEAD"/>
                </a:solidFill>
                <a:latin typeface="Aptos"/>
              </a:rPr>
              <a:t>MODULE 1 • PREDICT</a:t>
            </a:r>
          </a:p>
        </p:txBody>
      </p:sp>
      <p:sp>
        <p:nvSpPr>
          <p:cNvPr id="18" name="TextBox 17"/>
          <p:cNvSpPr txBox="1"/>
          <p:nvPr/>
        </p:nvSpPr>
        <p:spPr>
          <a:xfrm>
            <a:off x="594360" y="713232"/>
            <a:ext cx="10972800" cy="566928"/>
          </a:xfrm>
          <a:prstGeom prst="rect">
            <a:avLst/>
          </a:prstGeom>
          <a:noFill/>
        </p:spPr>
        <p:txBody>
          <a:bodyPr wrap="square" anchor="ctr">
            <a:spAutoFit/>
          </a:bodyPr>
          <a:lstStyle/>
          <a:p>
            <a:pPr algn="l"/>
            <a:r>
              <a:rPr sz="2800" b="1">
                <a:solidFill>
                  <a:srgbClr val="EFF7F5"/>
                </a:solidFill>
                <a:latin typeface="Aptos"/>
              </a:rPr>
              <a:t>See Grid Stress Before It Happens</a:t>
            </a:r>
          </a:p>
        </p:txBody>
      </p:sp>
      <p:sp>
        <p:nvSpPr>
          <p:cNvPr id="19" name="TextBox 18"/>
          <p:cNvSpPr txBox="1"/>
          <p:nvPr/>
        </p:nvSpPr>
        <p:spPr>
          <a:xfrm>
            <a:off x="612648" y="1298448"/>
            <a:ext cx="10789920" cy="365760"/>
          </a:xfrm>
          <a:prstGeom prst="rect">
            <a:avLst/>
          </a:prstGeom>
          <a:noFill/>
        </p:spPr>
        <p:txBody>
          <a:bodyPr wrap="square" anchor="ctr">
            <a:spAutoFit/>
          </a:bodyPr>
          <a:lstStyle/>
          <a:p>
            <a:pPr algn="l"/>
            <a:r>
              <a:rPr sz="1250" b="0">
                <a:solidFill>
                  <a:srgbClr val="97AEAD"/>
                </a:solidFill>
                <a:latin typeface="Aptos"/>
              </a:rPr>
              <a:t>Short-term Random Forest forecasting surfaces the next high-risk window.</a:t>
            </a:r>
          </a:p>
        </p:txBody>
      </p:sp>
      <p:sp>
        <p:nvSpPr>
          <p:cNvPr id="20" name="Rounded Rectangle 19"/>
          <p:cNvSpPr/>
          <p:nvPr/>
        </p:nvSpPr>
        <p:spPr>
          <a:xfrm>
            <a:off x="658368" y="1874519"/>
            <a:ext cx="2423160" cy="1051560"/>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1984248"/>
            <a:ext cx="2093976" cy="411480"/>
          </a:xfrm>
          <a:prstGeom prst="rect">
            <a:avLst/>
          </a:prstGeom>
          <a:noFill/>
        </p:spPr>
        <p:txBody>
          <a:bodyPr wrap="square" anchor="ctr">
            <a:spAutoFit/>
          </a:bodyPr>
          <a:lstStyle/>
          <a:p>
            <a:pPr algn="l"/>
            <a:r>
              <a:rPr sz="2500" b="1">
                <a:solidFill>
                  <a:srgbClr val="FFBE50"/>
                </a:solidFill>
                <a:latin typeface="Aptos"/>
              </a:rPr>
              <a:t>10.15 GW</a:t>
            </a:r>
          </a:p>
        </p:txBody>
      </p:sp>
      <p:sp>
        <p:nvSpPr>
          <p:cNvPr id="22" name="TextBox 21"/>
          <p:cNvSpPr txBox="1"/>
          <p:nvPr/>
        </p:nvSpPr>
        <p:spPr>
          <a:xfrm>
            <a:off x="822959" y="2496312"/>
            <a:ext cx="2093976" cy="228600"/>
          </a:xfrm>
          <a:prstGeom prst="rect">
            <a:avLst/>
          </a:prstGeom>
          <a:noFill/>
        </p:spPr>
        <p:txBody>
          <a:bodyPr wrap="square" anchor="ctr">
            <a:spAutoFit/>
          </a:bodyPr>
          <a:lstStyle/>
          <a:p>
            <a:pPr algn="l"/>
            <a:r>
              <a:rPr sz="950" b="1">
                <a:solidFill>
                  <a:srgbClr val="97AEAD"/>
                </a:solidFill>
                <a:latin typeface="Aptos"/>
              </a:rPr>
              <a:t>Predicted peak load</a:t>
            </a:r>
          </a:p>
        </p:txBody>
      </p:sp>
      <p:sp>
        <p:nvSpPr>
          <p:cNvPr id="23" name="Rounded Rectangle 22"/>
          <p:cNvSpPr/>
          <p:nvPr/>
        </p:nvSpPr>
        <p:spPr>
          <a:xfrm>
            <a:off x="3273552" y="1874519"/>
            <a:ext cx="2423160" cy="1051560"/>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38144" y="1984248"/>
            <a:ext cx="2093976" cy="411480"/>
          </a:xfrm>
          <a:prstGeom prst="rect">
            <a:avLst/>
          </a:prstGeom>
          <a:noFill/>
        </p:spPr>
        <p:txBody>
          <a:bodyPr wrap="square" anchor="ctr">
            <a:spAutoFit/>
          </a:bodyPr>
          <a:lstStyle/>
          <a:p>
            <a:pPr algn="l"/>
            <a:r>
              <a:rPr sz="2500" b="1">
                <a:solidFill>
                  <a:srgbClr val="22D3BE"/>
                </a:solidFill>
                <a:latin typeface="Aptos"/>
              </a:rPr>
              <a:t>18:00</a:t>
            </a:r>
          </a:p>
        </p:txBody>
      </p:sp>
      <p:sp>
        <p:nvSpPr>
          <p:cNvPr id="25" name="TextBox 24"/>
          <p:cNvSpPr txBox="1"/>
          <p:nvPr/>
        </p:nvSpPr>
        <p:spPr>
          <a:xfrm>
            <a:off x="3438144" y="2496312"/>
            <a:ext cx="2093976" cy="228600"/>
          </a:xfrm>
          <a:prstGeom prst="rect">
            <a:avLst/>
          </a:prstGeom>
          <a:noFill/>
        </p:spPr>
        <p:txBody>
          <a:bodyPr wrap="square" anchor="ctr">
            <a:spAutoFit/>
          </a:bodyPr>
          <a:lstStyle/>
          <a:p>
            <a:pPr algn="l"/>
            <a:r>
              <a:rPr sz="950" b="1">
                <a:solidFill>
                  <a:srgbClr val="97AEAD"/>
                </a:solidFill>
                <a:latin typeface="Aptos"/>
              </a:rPr>
              <a:t>Peak window (UTC)</a:t>
            </a:r>
          </a:p>
        </p:txBody>
      </p:sp>
      <p:sp>
        <p:nvSpPr>
          <p:cNvPr id="26" name="Rounded Rectangle 25"/>
          <p:cNvSpPr/>
          <p:nvPr/>
        </p:nvSpPr>
        <p:spPr>
          <a:xfrm>
            <a:off x="5888736" y="1874519"/>
            <a:ext cx="2423160" cy="1051560"/>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53328" y="1984248"/>
            <a:ext cx="2093976" cy="411480"/>
          </a:xfrm>
          <a:prstGeom prst="rect">
            <a:avLst/>
          </a:prstGeom>
          <a:noFill/>
        </p:spPr>
        <p:txBody>
          <a:bodyPr wrap="square" anchor="ctr">
            <a:spAutoFit/>
          </a:bodyPr>
          <a:lstStyle/>
          <a:p>
            <a:pPr algn="l"/>
            <a:r>
              <a:rPr sz="2500" b="1">
                <a:solidFill>
                  <a:srgbClr val="FF5C5C"/>
                </a:solidFill>
                <a:latin typeface="Aptos"/>
              </a:rPr>
              <a:t>+16.0%</a:t>
            </a:r>
          </a:p>
        </p:txBody>
      </p:sp>
      <p:sp>
        <p:nvSpPr>
          <p:cNvPr id="28" name="TextBox 27"/>
          <p:cNvSpPr txBox="1"/>
          <p:nvPr/>
        </p:nvSpPr>
        <p:spPr>
          <a:xfrm>
            <a:off x="6053328" y="2496312"/>
            <a:ext cx="2093976" cy="228600"/>
          </a:xfrm>
          <a:prstGeom prst="rect">
            <a:avLst/>
          </a:prstGeom>
          <a:noFill/>
        </p:spPr>
        <p:txBody>
          <a:bodyPr wrap="square" anchor="ctr">
            <a:spAutoFit/>
          </a:bodyPr>
          <a:lstStyle/>
          <a:p>
            <a:pPr algn="l"/>
            <a:r>
              <a:rPr sz="950" b="1">
                <a:solidFill>
                  <a:srgbClr val="97AEAD"/>
                </a:solidFill>
                <a:latin typeface="Aptos"/>
              </a:rPr>
              <a:t>Surge vs 8.75 GW baseline</a:t>
            </a:r>
          </a:p>
        </p:txBody>
      </p:sp>
      <p:sp>
        <p:nvSpPr>
          <p:cNvPr id="29" name="Rounded Rectangle 28"/>
          <p:cNvSpPr/>
          <p:nvPr/>
        </p:nvSpPr>
        <p:spPr>
          <a:xfrm>
            <a:off x="8503920" y="1874519"/>
            <a:ext cx="2423160" cy="1051560"/>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68512" y="1984248"/>
            <a:ext cx="2093976" cy="411480"/>
          </a:xfrm>
          <a:prstGeom prst="rect">
            <a:avLst/>
          </a:prstGeom>
          <a:noFill/>
        </p:spPr>
        <p:txBody>
          <a:bodyPr wrap="square" anchor="ctr">
            <a:spAutoFit/>
          </a:bodyPr>
          <a:lstStyle/>
          <a:p>
            <a:pPr algn="l"/>
            <a:r>
              <a:rPr sz="2500" b="1">
                <a:solidFill>
                  <a:srgbClr val="FF5C5C"/>
                </a:solidFill>
                <a:latin typeface="Aptos"/>
              </a:rPr>
              <a:t>HIGH</a:t>
            </a:r>
          </a:p>
        </p:txBody>
      </p:sp>
      <p:sp>
        <p:nvSpPr>
          <p:cNvPr id="31" name="TextBox 30"/>
          <p:cNvSpPr txBox="1"/>
          <p:nvPr/>
        </p:nvSpPr>
        <p:spPr>
          <a:xfrm>
            <a:off x="8668512" y="2496312"/>
            <a:ext cx="2093976" cy="228600"/>
          </a:xfrm>
          <a:prstGeom prst="rect">
            <a:avLst/>
          </a:prstGeom>
          <a:noFill/>
        </p:spPr>
        <p:txBody>
          <a:bodyPr wrap="square" anchor="ctr">
            <a:spAutoFit/>
          </a:bodyPr>
          <a:lstStyle/>
          <a:p>
            <a:pPr algn="l"/>
            <a:r>
              <a:rPr sz="950" b="1">
                <a:solidFill>
                  <a:srgbClr val="97AEAD"/>
                </a:solidFill>
                <a:latin typeface="Aptos"/>
              </a:rPr>
              <a:t>Grid stress level</a:t>
            </a:r>
          </a:p>
        </p:txBody>
      </p:sp>
      <p:graphicFrame>
        <p:nvGraphicFramePr>
          <p:cNvPr id="32" name="Chart 31"/>
          <p:cNvGraphicFramePr>
            <a:graphicFrameLocks noGrp="1"/>
          </p:cNvGraphicFramePr>
          <p:nvPr/>
        </p:nvGraphicFramePr>
        <p:xfrm>
          <a:off x="658368" y="3310128"/>
          <a:ext cx="7452360" cy="2331720"/>
        </p:xfrm>
        <a:graphic>
          <a:graphicData uri="http://schemas.openxmlformats.org/drawingml/2006/chart">
            <c:chart xmlns:c="http://schemas.openxmlformats.org/drawingml/2006/chart" r:id="rId2"/>
          </a:graphicData>
        </a:graphic>
      </p:graphicFrame>
      <p:sp>
        <p:nvSpPr>
          <p:cNvPr id="33" name="Rounded Rectangle 32"/>
          <p:cNvSpPr/>
          <p:nvPr/>
        </p:nvSpPr>
        <p:spPr>
          <a:xfrm>
            <a:off x="8366760" y="3310128"/>
            <a:ext cx="3200400" cy="2331720"/>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13648" y="3529584"/>
            <a:ext cx="2651760" cy="274320"/>
          </a:xfrm>
          <a:prstGeom prst="rect">
            <a:avLst/>
          </a:prstGeom>
          <a:noFill/>
        </p:spPr>
        <p:txBody>
          <a:bodyPr wrap="square" anchor="ctr">
            <a:spAutoFit/>
          </a:bodyPr>
          <a:lstStyle/>
          <a:p>
            <a:pPr algn="l"/>
            <a:r>
              <a:rPr sz="1100" b="1">
                <a:solidFill>
                  <a:srgbClr val="22D3BE"/>
                </a:solidFill>
                <a:latin typeface="Aptos"/>
              </a:rPr>
              <a:t>OPERATOR PLAYBOOK</a:t>
            </a:r>
          </a:p>
        </p:txBody>
      </p:sp>
      <p:sp>
        <p:nvSpPr>
          <p:cNvPr id="35" name="TextBox 34"/>
          <p:cNvSpPr txBox="1"/>
          <p:nvPr/>
        </p:nvSpPr>
        <p:spPr>
          <a:xfrm>
            <a:off x="8613648" y="3977639"/>
            <a:ext cx="2560320" cy="256032"/>
          </a:xfrm>
          <a:prstGeom prst="rect">
            <a:avLst/>
          </a:prstGeom>
          <a:noFill/>
        </p:spPr>
        <p:txBody>
          <a:bodyPr wrap="square" anchor="ctr">
            <a:spAutoFit/>
          </a:bodyPr>
          <a:lstStyle/>
          <a:p>
            <a:pPr algn="l"/>
            <a:r>
              <a:rPr sz="1050" b="0">
                <a:solidFill>
                  <a:srgbClr val="EFF7F5"/>
                </a:solidFill>
                <a:latin typeface="Aptos"/>
              </a:rPr>
              <a:t>T−2h  Pre-cool facilities</a:t>
            </a:r>
          </a:p>
        </p:txBody>
      </p:sp>
      <p:sp>
        <p:nvSpPr>
          <p:cNvPr id="36" name="TextBox 35"/>
          <p:cNvSpPr txBox="1"/>
          <p:nvPr/>
        </p:nvSpPr>
        <p:spPr>
          <a:xfrm>
            <a:off x="8613648" y="4370831"/>
            <a:ext cx="2560320" cy="256032"/>
          </a:xfrm>
          <a:prstGeom prst="rect">
            <a:avLst/>
          </a:prstGeom>
          <a:noFill/>
        </p:spPr>
        <p:txBody>
          <a:bodyPr wrap="square" anchor="ctr">
            <a:spAutoFit/>
          </a:bodyPr>
          <a:lstStyle/>
          <a:p>
            <a:pPr algn="l"/>
            <a:r>
              <a:rPr sz="1050" b="0">
                <a:solidFill>
                  <a:srgbClr val="EFF7F5"/>
                </a:solidFill>
                <a:latin typeface="Aptos"/>
              </a:rPr>
              <a:t>T−90m  Defer flexible loads</a:t>
            </a:r>
          </a:p>
        </p:txBody>
      </p:sp>
      <p:sp>
        <p:nvSpPr>
          <p:cNvPr id="37" name="TextBox 36"/>
          <p:cNvSpPr txBox="1"/>
          <p:nvPr/>
        </p:nvSpPr>
        <p:spPr>
          <a:xfrm>
            <a:off x="8613648" y="4764024"/>
            <a:ext cx="2560320" cy="256032"/>
          </a:xfrm>
          <a:prstGeom prst="rect">
            <a:avLst/>
          </a:prstGeom>
          <a:noFill/>
        </p:spPr>
        <p:txBody>
          <a:bodyPr wrap="square" anchor="ctr">
            <a:spAutoFit/>
          </a:bodyPr>
          <a:lstStyle/>
          <a:p>
            <a:pPr algn="l"/>
            <a:r>
              <a:rPr sz="1050" b="0">
                <a:solidFill>
                  <a:srgbClr val="EFF7F5"/>
                </a:solidFill>
                <a:latin typeface="Aptos"/>
              </a:rPr>
              <a:t>T−30m  Confirm feeder headroom</a:t>
            </a:r>
          </a:p>
        </p:txBody>
      </p:sp>
      <p:sp>
        <p:nvSpPr>
          <p:cNvPr id="38" name="TextBox 37"/>
          <p:cNvSpPr txBox="1"/>
          <p:nvPr/>
        </p:nvSpPr>
        <p:spPr>
          <a:xfrm>
            <a:off x="8613648" y="5157216"/>
            <a:ext cx="2560320" cy="256032"/>
          </a:xfrm>
          <a:prstGeom prst="rect">
            <a:avLst/>
          </a:prstGeom>
          <a:noFill/>
        </p:spPr>
        <p:txBody>
          <a:bodyPr wrap="square" anchor="ctr">
            <a:spAutoFit/>
          </a:bodyPr>
          <a:lstStyle/>
          <a:p>
            <a:pPr algn="l"/>
            <a:r>
              <a:rPr sz="1050" b="1">
                <a:solidFill>
                  <a:srgbClr val="EFF7F5"/>
                </a:solidFill>
                <a:latin typeface="Aptos"/>
              </a:rPr>
              <a:t>T−0  Execute dispatch plan</a:t>
            </a:r>
          </a:p>
        </p:txBody>
      </p:sp>
      <p:sp>
        <p:nvSpPr>
          <p:cNvPr id="39" name="Rounded Rectangle 38"/>
          <p:cNvSpPr/>
          <p:nvPr/>
        </p:nvSpPr>
        <p:spPr>
          <a:xfrm>
            <a:off x="8613648" y="5358384"/>
            <a:ext cx="2560320" cy="310896"/>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13648" y="5367528"/>
            <a:ext cx="2560320" cy="256032"/>
          </a:xfrm>
          <a:prstGeom prst="rect">
            <a:avLst/>
          </a:prstGeom>
          <a:noFill/>
        </p:spPr>
        <p:txBody>
          <a:bodyPr wrap="square" anchor="ctr">
            <a:spAutoFit/>
          </a:bodyPr>
          <a:lstStyle/>
          <a:p>
            <a:pPr algn="ctr"/>
            <a:r>
              <a:rPr sz="900" b="1">
                <a:solidFill>
                  <a:srgbClr val="FFBE50"/>
                </a:solidFill>
                <a:latin typeface="Aptos"/>
              </a:rPr>
              <a:t>EARLY WARNING → EARLY ACTION</a:t>
            </a:r>
          </a:p>
        </p:txBody>
      </p:sp>
      <p:cxnSp>
        <p:nvCxnSpPr>
          <p:cNvPr id="41" name="Connector 40"/>
          <p:cNvCxnSpPr/>
          <p:nvPr/>
        </p:nvCxnSpPr>
        <p:spPr>
          <a:xfrm>
            <a:off x="594360" y="6510528"/>
            <a:ext cx="11000232" cy="0"/>
          </a:xfrm>
          <a:prstGeom prst="line">
            <a:avLst/>
          </a:prstGeom>
          <a:ln w="10160">
            <a:solidFill>
              <a:srgbClr val="263A3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12648" y="6565392"/>
            <a:ext cx="4114800" cy="164592"/>
          </a:xfrm>
          <a:prstGeom prst="rect">
            <a:avLst/>
          </a:prstGeom>
          <a:noFill/>
        </p:spPr>
        <p:txBody>
          <a:bodyPr wrap="square" anchor="ctr">
            <a:spAutoFit/>
          </a:bodyPr>
          <a:lstStyle/>
          <a:p>
            <a:pPr algn="l"/>
            <a:r>
              <a:rPr sz="800" b="1">
                <a:solidFill>
                  <a:srgbClr val="97AEAD"/>
                </a:solidFill>
                <a:latin typeface="Aptos"/>
              </a:rPr>
              <a:t>ENERGYNEX  •  GRIDOPT AI</a:t>
            </a:r>
          </a:p>
        </p:txBody>
      </p:sp>
      <p:sp>
        <p:nvSpPr>
          <p:cNvPr id="43" name="TextBox 42"/>
          <p:cNvSpPr txBox="1"/>
          <p:nvPr/>
        </p:nvSpPr>
        <p:spPr>
          <a:xfrm>
            <a:off x="7589520" y="6565392"/>
            <a:ext cx="4023360" cy="164592"/>
          </a:xfrm>
          <a:prstGeom prst="rect">
            <a:avLst/>
          </a:prstGeom>
          <a:noFill/>
        </p:spPr>
        <p:txBody>
          <a:bodyPr wrap="square" anchor="ctr">
            <a:spAutoFit/>
          </a:bodyPr>
          <a:lstStyle/>
          <a:p>
            <a:pPr algn="r"/>
            <a:r>
              <a:rPr sz="800" b="1">
                <a:solidFill>
                  <a:srgbClr val="97AEAD"/>
                </a:solidFill>
                <a:latin typeface="Aptos"/>
              </a:rPr>
              <a:t>IBM BOB AI INNOVATION HACKATHON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D12"/>
        </a:solidFill>
        <a:effectLst/>
      </p:bgPr>
    </p:bg>
    <p:spTree>
      <p:nvGrpSpPr>
        <p:cNvPr id="1" name=""/>
        <p:cNvGrpSpPr/>
        <p:nvPr/>
      </p:nvGrpSpPr>
      <p:grpSpPr/>
      <p:cxnSp>
        <p:nvCxnSpPr>
          <p:cNvPr id="2" name="Connector 1"/>
          <p:cNvCxnSpPr/>
          <p:nvPr/>
        </p:nvCxnSpPr>
        <p:spPr>
          <a:xfrm>
            <a:off x="59436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01168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42900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4632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26364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68096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09828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1560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0" y="54864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155448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256032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0" y="356616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0" y="457200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0" y="557784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274320"/>
            <a:ext cx="1097280" cy="256032"/>
          </a:xfrm>
          <a:prstGeom prst="rect">
            <a:avLst/>
          </a:prstGeom>
          <a:noFill/>
        </p:spPr>
        <p:txBody>
          <a:bodyPr wrap="square" anchor="ctr">
            <a:spAutoFit/>
          </a:bodyPr>
          <a:lstStyle/>
          <a:p>
            <a:pPr algn="l"/>
            <a:r>
              <a:rPr sz="1000" b="1">
                <a:solidFill>
                  <a:srgbClr val="22D3BE"/>
                </a:solidFill>
                <a:latin typeface="Aptos"/>
              </a:rPr>
              <a:t>06  /  10</a:t>
            </a:r>
          </a:p>
        </p:txBody>
      </p:sp>
      <p:sp>
        <p:nvSpPr>
          <p:cNvPr id="17" name="TextBox 16"/>
          <p:cNvSpPr txBox="1"/>
          <p:nvPr/>
        </p:nvSpPr>
        <p:spPr>
          <a:xfrm>
            <a:off x="1600200" y="265176"/>
            <a:ext cx="3657600" cy="274320"/>
          </a:xfrm>
          <a:prstGeom prst="rect">
            <a:avLst/>
          </a:prstGeom>
          <a:noFill/>
        </p:spPr>
        <p:txBody>
          <a:bodyPr wrap="square" anchor="ctr">
            <a:spAutoFit/>
          </a:bodyPr>
          <a:lstStyle/>
          <a:p>
            <a:pPr algn="l"/>
            <a:r>
              <a:rPr sz="1000" b="1">
                <a:solidFill>
                  <a:srgbClr val="97AEAD"/>
                </a:solidFill>
                <a:latin typeface="Aptos"/>
              </a:rPr>
              <a:t>MODULE 2 • DETECT</a:t>
            </a:r>
          </a:p>
        </p:txBody>
      </p:sp>
      <p:sp>
        <p:nvSpPr>
          <p:cNvPr id="18" name="TextBox 17"/>
          <p:cNvSpPr txBox="1"/>
          <p:nvPr/>
        </p:nvSpPr>
        <p:spPr>
          <a:xfrm>
            <a:off x="594360" y="713232"/>
            <a:ext cx="10972800" cy="566928"/>
          </a:xfrm>
          <a:prstGeom prst="rect">
            <a:avLst/>
          </a:prstGeom>
          <a:noFill/>
        </p:spPr>
        <p:txBody>
          <a:bodyPr wrap="square" anchor="ctr">
            <a:spAutoFit/>
          </a:bodyPr>
          <a:lstStyle/>
          <a:p>
            <a:pPr algn="l"/>
            <a:r>
              <a:rPr sz="2800" b="1">
                <a:solidFill>
                  <a:srgbClr val="EFF7F5"/>
                </a:solidFill>
                <a:latin typeface="Aptos"/>
              </a:rPr>
              <a:t>Find Renewable Energy Loss Automatically</a:t>
            </a:r>
          </a:p>
        </p:txBody>
      </p:sp>
      <p:sp>
        <p:nvSpPr>
          <p:cNvPr id="19" name="TextBox 18"/>
          <p:cNvSpPr txBox="1"/>
          <p:nvPr/>
        </p:nvSpPr>
        <p:spPr>
          <a:xfrm>
            <a:off x="612648" y="1298448"/>
            <a:ext cx="10789920" cy="365760"/>
          </a:xfrm>
          <a:prstGeom prst="rect">
            <a:avLst/>
          </a:prstGeom>
          <a:noFill/>
        </p:spPr>
        <p:txBody>
          <a:bodyPr wrap="square" anchor="ctr">
            <a:spAutoFit/>
          </a:bodyPr>
          <a:lstStyle/>
          <a:p>
            <a:pPr algn="l"/>
            <a:r>
              <a:rPr sz="1250" b="0">
                <a:solidFill>
                  <a:srgbClr val="97AEAD"/>
                </a:solidFill>
                <a:latin typeface="Aptos"/>
              </a:rPr>
              <a:t>Isolation Forest flags unusual asset behavior without requiring a fully labeled failure dataset.</a:t>
            </a:r>
          </a:p>
        </p:txBody>
      </p:sp>
      <p:sp>
        <p:nvSpPr>
          <p:cNvPr id="20" name="Rounded Rectangle 19"/>
          <p:cNvSpPr/>
          <p:nvPr/>
        </p:nvSpPr>
        <p:spPr>
          <a:xfrm>
            <a:off x="658368" y="1874519"/>
            <a:ext cx="3886200" cy="3822191"/>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2148840"/>
            <a:ext cx="2057400" cy="310896"/>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2157984"/>
            <a:ext cx="2057400" cy="256032"/>
          </a:xfrm>
          <a:prstGeom prst="rect">
            <a:avLst/>
          </a:prstGeom>
          <a:noFill/>
        </p:spPr>
        <p:txBody>
          <a:bodyPr wrap="square" anchor="ctr">
            <a:spAutoFit/>
          </a:bodyPr>
          <a:lstStyle/>
          <a:p>
            <a:pPr algn="ctr"/>
            <a:r>
              <a:rPr sz="900" b="1">
                <a:solidFill>
                  <a:srgbClr val="FF5C5C"/>
                </a:solidFill>
                <a:latin typeface="Aptos"/>
              </a:rPr>
              <a:t>🔴  UNDERPERFORMING</a:t>
            </a:r>
          </a:p>
        </p:txBody>
      </p:sp>
      <p:sp>
        <p:nvSpPr>
          <p:cNvPr id="23" name="TextBox 22"/>
          <p:cNvSpPr txBox="1"/>
          <p:nvPr/>
        </p:nvSpPr>
        <p:spPr>
          <a:xfrm>
            <a:off x="914400" y="2679192"/>
            <a:ext cx="3200400" cy="365760"/>
          </a:xfrm>
          <a:prstGeom prst="rect">
            <a:avLst/>
          </a:prstGeom>
          <a:noFill/>
        </p:spPr>
        <p:txBody>
          <a:bodyPr wrap="square" anchor="ctr">
            <a:spAutoFit/>
          </a:bodyPr>
          <a:lstStyle/>
          <a:p>
            <a:pPr algn="l"/>
            <a:r>
              <a:rPr sz="2300" b="1">
                <a:solidFill>
                  <a:srgbClr val="EFF7F5"/>
                </a:solidFill>
                <a:latin typeface="Aptos"/>
              </a:rPr>
              <a:t>Solar Farm A</a:t>
            </a:r>
          </a:p>
        </p:txBody>
      </p:sp>
      <p:sp>
        <p:nvSpPr>
          <p:cNvPr id="24" name="TextBox 23"/>
          <p:cNvSpPr txBox="1"/>
          <p:nvPr/>
        </p:nvSpPr>
        <p:spPr>
          <a:xfrm>
            <a:off x="914400" y="3063240"/>
            <a:ext cx="2560320" cy="256032"/>
          </a:xfrm>
          <a:prstGeom prst="rect">
            <a:avLst/>
          </a:prstGeom>
          <a:noFill/>
        </p:spPr>
        <p:txBody>
          <a:bodyPr wrap="square" anchor="ctr">
            <a:spAutoFit/>
          </a:bodyPr>
          <a:lstStyle/>
          <a:p>
            <a:pPr algn="l"/>
            <a:r>
              <a:rPr sz="1000" b="1">
                <a:solidFill>
                  <a:srgbClr val="97AEAD"/>
                </a:solidFill>
                <a:latin typeface="Aptos"/>
              </a:rPr>
              <a:t>SOLAR-A-001</a:t>
            </a:r>
          </a:p>
        </p:txBody>
      </p:sp>
      <p:sp>
        <p:nvSpPr>
          <p:cNvPr id="25" name="Rounded Rectangle 24"/>
          <p:cNvSpPr/>
          <p:nvPr/>
        </p:nvSpPr>
        <p:spPr>
          <a:xfrm>
            <a:off x="914400" y="3611880"/>
            <a:ext cx="1554480" cy="1051560"/>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78992" y="3721608"/>
            <a:ext cx="1225295" cy="411480"/>
          </a:xfrm>
          <a:prstGeom prst="rect">
            <a:avLst/>
          </a:prstGeom>
          <a:noFill/>
        </p:spPr>
        <p:txBody>
          <a:bodyPr wrap="square" anchor="ctr">
            <a:spAutoFit/>
          </a:bodyPr>
          <a:lstStyle/>
          <a:p>
            <a:pPr algn="l"/>
            <a:r>
              <a:rPr sz="2500" b="1">
                <a:solidFill>
                  <a:srgbClr val="22D3BE"/>
                </a:solidFill>
                <a:latin typeface="Aptos"/>
              </a:rPr>
              <a:t>120 MW</a:t>
            </a:r>
          </a:p>
        </p:txBody>
      </p:sp>
      <p:sp>
        <p:nvSpPr>
          <p:cNvPr id="27" name="TextBox 26"/>
          <p:cNvSpPr txBox="1"/>
          <p:nvPr/>
        </p:nvSpPr>
        <p:spPr>
          <a:xfrm>
            <a:off x="1078992" y="4233672"/>
            <a:ext cx="1225295" cy="228600"/>
          </a:xfrm>
          <a:prstGeom prst="rect">
            <a:avLst/>
          </a:prstGeom>
          <a:noFill/>
        </p:spPr>
        <p:txBody>
          <a:bodyPr wrap="square" anchor="ctr">
            <a:spAutoFit/>
          </a:bodyPr>
          <a:lstStyle/>
          <a:p>
            <a:pPr algn="l"/>
            <a:r>
              <a:rPr sz="950" b="1">
                <a:solidFill>
                  <a:srgbClr val="97AEAD"/>
                </a:solidFill>
                <a:latin typeface="Aptos"/>
              </a:rPr>
              <a:t>Expected output</a:t>
            </a:r>
          </a:p>
        </p:txBody>
      </p:sp>
      <p:sp>
        <p:nvSpPr>
          <p:cNvPr id="28" name="Rounded Rectangle 27"/>
          <p:cNvSpPr/>
          <p:nvPr/>
        </p:nvSpPr>
        <p:spPr>
          <a:xfrm>
            <a:off x="2606040" y="3611880"/>
            <a:ext cx="1554480" cy="1051560"/>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70632" y="3721608"/>
            <a:ext cx="1225295" cy="411480"/>
          </a:xfrm>
          <a:prstGeom prst="rect">
            <a:avLst/>
          </a:prstGeom>
          <a:noFill/>
        </p:spPr>
        <p:txBody>
          <a:bodyPr wrap="square" anchor="ctr">
            <a:spAutoFit/>
          </a:bodyPr>
          <a:lstStyle/>
          <a:p>
            <a:pPr algn="l"/>
            <a:r>
              <a:rPr sz="2500" b="1">
                <a:solidFill>
                  <a:srgbClr val="FF5C5C"/>
                </a:solidFill>
                <a:latin typeface="Aptos"/>
              </a:rPr>
              <a:t>94 MW</a:t>
            </a:r>
          </a:p>
        </p:txBody>
      </p:sp>
      <p:sp>
        <p:nvSpPr>
          <p:cNvPr id="30" name="TextBox 29"/>
          <p:cNvSpPr txBox="1"/>
          <p:nvPr/>
        </p:nvSpPr>
        <p:spPr>
          <a:xfrm>
            <a:off x="2770632" y="4233672"/>
            <a:ext cx="1225295" cy="228600"/>
          </a:xfrm>
          <a:prstGeom prst="rect">
            <a:avLst/>
          </a:prstGeom>
          <a:noFill/>
        </p:spPr>
        <p:txBody>
          <a:bodyPr wrap="square" anchor="ctr">
            <a:spAutoFit/>
          </a:bodyPr>
          <a:lstStyle/>
          <a:p>
            <a:pPr algn="l"/>
            <a:r>
              <a:rPr sz="950" b="1">
                <a:solidFill>
                  <a:srgbClr val="97AEAD"/>
                </a:solidFill>
                <a:latin typeface="Aptos"/>
              </a:rPr>
              <a:t>Actual output</a:t>
            </a:r>
          </a:p>
        </p:txBody>
      </p:sp>
      <p:sp>
        <p:nvSpPr>
          <p:cNvPr id="31" name="TextBox 30"/>
          <p:cNvSpPr txBox="1"/>
          <p:nvPr/>
        </p:nvSpPr>
        <p:spPr>
          <a:xfrm>
            <a:off x="914400" y="4892040"/>
            <a:ext cx="1828800" cy="411480"/>
          </a:xfrm>
          <a:prstGeom prst="rect">
            <a:avLst/>
          </a:prstGeom>
          <a:noFill/>
        </p:spPr>
        <p:txBody>
          <a:bodyPr wrap="square" anchor="ctr">
            <a:spAutoFit/>
          </a:bodyPr>
          <a:lstStyle/>
          <a:p>
            <a:pPr algn="l"/>
            <a:r>
              <a:rPr sz="2400" b="1">
                <a:solidFill>
                  <a:srgbClr val="FF5C5C"/>
                </a:solidFill>
                <a:latin typeface="Aptos"/>
              </a:rPr>
              <a:t>−21.7%</a:t>
            </a:r>
          </a:p>
        </p:txBody>
      </p:sp>
      <p:sp>
        <p:nvSpPr>
          <p:cNvPr id="32" name="TextBox 31"/>
          <p:cNvSpPr txBox="1"/>
          <p:nvPr/>
        </p:nvSpPr>
        <p:spPr>
          <a:xfrm>
            <a:off x="914400" y="5303520"/>
            <a:ext cx="2743200" cy="228600"/>
          </a:xfrm>
          <a:prstGeom prst="rect">
            <a:avLst/>
          </a:prstGeom>
          <a:noFill/>
        </p:spPr>
        <p:txBody>
          <a:bodyPr wrap="square" anchor="ctr">
            <a:spAutoFit/>
          </a:bodyPr>
          <a:lstStyle/>
          <a:p>
            <a:pPr algn="l"/>
            <a:r>
              <a:rPr sz="950" b="0">
                <a:solidFill>
                  <a:srgbClr val="97AEAD"/>
                </a:solidFill>
                <a:latin typeface="Aptos"/>
              </a:rPr>
              <a:t>Deviation from expected performance</a:t>
            </a:r>
          </a:p>
        </p:txBody>
      </p:sp>
      <p:sp>
        <p:nvSpPr>
          <p:cNvPr id="33" name="Rounded Rectangle 32"/>
          <p:cNvSpPr/>
          <p:nvPr/>
        </p:nvSpPr>
        <p:spPr>
          <a:xfrm>
            <a:off x="4828032" y="1874519"/>
            <a:ext cx="6748272" cy="3822191"/>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02352" y="2148840"/>
            <a:ext cx="3657600" cy="274320"/>
          </a:xfrm>
          <a:prstGeom prst="rect">
            <a:avLst/>
          </a:prstGeom>
          <a:noFill/>
        </p:spPr>
        <p:txBody>
          <a:bodyPr wrap="square" anchor="ctr">
            <a:spAutoFit/>
          </a:bodyPr>
          <a:lstStyle/>
          <a:p>
            <a:pPr algn="l"/>
            <a:r>
              <a:rPr sz="1100" b="1">
                <a:solidFill>
                  <a:srgbClr val="22D3BE"/>
                </a:solidFill>
                <a:latin typeface="Aptos"/>
              </a:rPr>
              <a:t>ISOLATION FOREST PIPELINE</a:t>
            </a:r>
          </a:p>
        </p:txBody>
      </p:sp>
      <p:sp>
        <p:nvSpPr>
          <p:cNvPr id="35" name="Rounded Rectangle 34"/>
          <p:cNvSpPr/>
          <p:nvPr/>
        </p:nvSpPr>
        <p:spPr>
          <a:xfrm>
            <a:off x="5102352" y="2816352"/>
            <a:ext cx="1234440" cy="1207008"/>
          </a:xfrm>
          <a:prstGeom prst="roundRect">
            <a:avLst>
              <a:gd name="adj" fmla="val 12000"/>
            </a:avLst>
          </a:prstGeom>
          <a:solidFill>
            <a:srgbClr val="132228"/>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75504" y="3017520"/>
            <a:ext cx="1088136" cy="274320"/>
          </a:xfrm>
          <a:prstGeom prst="rect">
            <a:avLst/>
          </a:prstGeom>
          <a:noFill/>
        </p:spPr>
        <p:txBody>
          <a:bodyPr wrap="square" anchor="ctr">
            <a:spAutoFit/>
          </a:bodyPr>
          <a:lstStyle/>
          <a:p>
            <a:pPr algn="ctr"/>
            <a:r>
              <a:rPr sz="950" b="1">
                <a:solidFill>
                  <a:srgbClr val="EFF7F5"/>
                </a:solidFill>
                <a:latin typeface="Aptos"/>
              </a:rPr>
              <a:t>Telemetry</a:t>
            </a:r>
          </a:p>
        </p:txBody>
      </p:sp>
      <p:sp>
        <p:nvSpPr>
          <p:cNvPr id="37" name="TextBox 36"/>
          <p:cNvSpPr txBox="1"/>
          <p:nvPr/>
        </p:nvSpPr>
        <p:spPr>
          <a:xfrm>
            <a:off x="5175504" y="3401568"/>
            <a:ext cx="1088136" cy="384048"/>
          </a:xfrm>
          <a:prstGeom prst="rect">
            <a:avLst/>
          </a:prstGeom>
          <a:noFill/>
        </p:spPr>
        <p:txBody>
          <a:bodyPr wrap="square" anchor="ctr">
            <a:spAutoFit/>
          </a:bodyPr>
          <a:lstStyle/>
          <a:p>
            <a:pPr algn="ctr"/>
            <a:r>
              <a:rPr sz="830" b="0">
                <a:solidFill>
                  <a:srgbClr val="97AEAD"/>
                </a:solidFill>
                <a:latin typeface="Aptos"/>
              </a:rPr>
              <a:t>Power + weather</a:t>
            </a:r>
          </a:p>
        </p:txBody>
      </p:sp>
      <p:cxnSp>
        <p:nvCxnSpPr>
          <p:cNvPr id="38" name="Connector 37"/>
          <p:cNvCxnSpPr/>
          <p:nvPr/>
        </p:nvCxnSpPr>
        <p:spPr>
          <a:xfrm>
            <a:off x="6345936" y="3419856"/>
            <a:ext cx="246888" cy="0"/>
          </a:xfrm>
          <a:prstGeom prst="line">
            <a:avLst/>
          </a:prstGeom>
          <a:ln w="19050">
            <a:solidFill>
              <a:srgbClr val="22D3BE"/>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6629400" y="2816352"/>
            <a:ext cx="1234440" cy="1207008"/>
          </a:xfrm>
          <a:prstGeom prst="roundRect">
            <a:avLst>
              <a:gd name="adj" fmla="val 12000"/>
            </a:avLst>
          </a:prstGeom>
          <a:solidFill>
            <a:srgbClr val="132228"/>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02552" y="3017520"/>
            <a:ext cx="1088136" cy="274320"/>
          </a:xfrm>
          <a:prstGeom prst="rect">
            <a:avLst/>
          </a:prstGeom>
          <a:noFill/>
        </p:spPr>
        <p:txBody>
          <a:bodyPr wrap="square" anchor="ctr">
            <a:spAutoFit/>
          </a:bodyPr>
          <a:lstStyle/>
          <a:p>
            <a:pPr algn="ctr"/>
            <a:r>
              <a:rPr sz="950" b="1">
                <a:solidFill>
                  <a:srgbClr val="EFF7F5"/>
                </a:solidFill>
                <a:latin typeface="Aptos"/>
              </a:rPr>
              <a:t>Expected</a:t>
            </a:r>
          </a:p>
        </p:txBody>
      </p:sp>
      <p:sp>
        <p:nvSpPr>
          <p:cNvPr id="41" name="TextBox 40"/>
          <p:cNvSpPr txBox="1"/>
          <p:nvPr/>
        </p:nvSpPr>
        <p:spPr>
          <a:xfrm>
            <a:off x="6702552" y="3401568"/>
            <a:ext cx="1088136" cy="384048"/>
          </a:xfrm>
          <a:prstGeom prst="rect">
            <a:avLst/>
          </a:prstGeom>
          <a:noFill/>
        </p:spPr>
        <p:txBody>
          <a:bodyPr wrap="square" anchor="ctr">
            <a:spAutoFit/>
          </a:bodyPr>
          <a:lstStyle/>
          <a:p>
            <a:pPr algn="ctr"/>
            <a:r>
              <a:rPr sz="830" b="0">
                <a:solidFill>
                  <a:srgbClr val="97AEAD"/>
                </a:solidFill>
                <a:latin typeface="Aptos"/>
              </a:rPr>
              <a:t>Performance baseline</a:t>
            </a:r>
          </a:p>
        </p:txBody>
      </p:sp>
      <p:cxnSp>
        <p:nvCxnSpPr>
          <p:cNvPr id="42" name="Connector 41"/>
          <p:cNvCxnSpPr/>
          <p:nvPr/>
        </p:nvCxnSpPr>
        <p:spPr>
          <a:xfrm>
            <a:off x="7872983" y="3419856"/>
            <a:ext cx="246888" cy="0"/>
          </a:xfrm>
          <a:prstGeom prst="line">
            <a:avLst/>
          </a:prstGeom>
          <a:ln w="19050">
            <a:solidFill>
              <a:srgbClr val="22D3BE"/>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8156448" y="2816352"/>
            <a:ext cx="1234440" cy="1207008"/>
          </a:xfrm>
          <a:prstGeom prst="roundRect">
            <a:avLst>
              <a:gd name="adj" fmla="val 12000"/>
            </a:avLst>
          </a:prstGeom>
          <a:solidFill>
            <a:srgbClr val="132228"/>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29600" y="3017520"/>
            <a:ext cx="1088136" cy="274320"/>
          </a:xfrm>
          <a:prstGeom prst="rect">
            <a:avLst/>
          </a:prstGeom>
          <a:noFill/>
        </p:spPr>
        <p:txBody>
          <a:bodyPr wrap="square" anchor="ctr">
            <a:spAutoFit/>
          </a:bodyPr>
          <a:lstStyle/>
          <a:p>
            <a:pPr algn="ctr"/>
            <a:r>
              <a:rPr sz="950" b="1">
                <a:solidFill>
                  <a:srgbClr val="EFF7F5"/>
                </a:solidFill>
                <a:latin typeface="Aptos"/>
              </a:rPr>
              <a:t>IsolationForest</a:t>
            </a:r>
          </a:p>
        </p:txBody>
      </p:sp>
      <p:sp>
        <p:nvSpPr>
          <p:cNvPr id="45" name="TextBox 44"/>
          <p:cNvSpPr txBox="1"/>
          <p:nvPr/>
        </p:nvSpPr>
        <p:spPr>
          <a:xfrm>
            <a:off x="8229600" y="3401568"/>
            <a:ext cx="1088136" cy="384048"/>
          </a:xfrm>
          <a:prstGeom prst="rect">
            <a:avLst/>
          </a:prstGeom>
          <a:noFill/>
        </p:spPr>
        <p:txBody>
          <a:bodyPr wrap="square" anchor="ctr">
            <a:spAutoFit/>
          </a:bodyPr>
          <a:lstStyle/>
          <a:p>
            <a:pPr algn="ctr"/>
            <a:r>
              <a:rPr sz="830" b="0">
                <a:solidFill>
                  <a:srgbClr val="97AEAD"/>
                </a:solidFill>
                <a:latin typeface="Aptos"/>
              </a:rPr>
              <a:t>Outlier score</a:t>
            </a:r>
          </a:p>
        </p:txBody>
      </p:sp>
      <p:cxnSp>
        <p:nvCxnSpPr>
          <p:cNvPr id="46" name="Connector 45"/>
          <p:cNvCxnSpPr/>
          <p:nvPr/>
        </p:nvCxnSpPr>
        <p:spPr>
          <a:xfrm>
            <a:off x="9400032" y="3419856"/>
            <a:ext cx="246888" cy="0"/>
          </a:xfrm>
          <a:prstGeom prst="line">
            <a:avLst/>
          </a:prstGeom>
          <a:ln w="19050">
            <a:solidFill>
              <a:srgbClr val="22D3BE"/>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9683496" y="2816352"/>
            <a:ext cx="1234440" cy="1207008"/>
          </a:xfrm>
          <a:prstGeom prst="roundRect">
            <a:avLst>
              <a:gd name="adj" fmla="val 12000"/>
            </a:avLst>
          </a:prstGeom>
          <a:solidFill>
            <a:srgbClr val="132228"/>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56648" y="3017520"/>
            <a:ext cx="1088136" cy="274320"/>
          </a:xfrm>
          <a:prstGeom prst="rect">
            <a:avLst/>
          </a:prstGeom>
          <a:noFill/>
        </p:spPr>
        <p:txBody>
          <a:bodyPr wrap="square" anchor="ctr">
            <a:spAutoFit/>
          </a:bodyPr>
          <a:lstStyle/>
          <a:p>
            <a:pPr algn="ctr"/>
            <a:r>
              <a:rPr sz="950" b="1">
                <a:solidFill>
                  <a:srgbClr val="EFF7F5"/>
                </a:solidFill>
                <a:latin typeface="Aptos"/>
              </a:rPr>
              <a:t>Alert</a:t>
            </a:r>
          </a:p>
        </p:txBody>
      </p:sp>
      <p:sp>
        <p:nvSpPr>
          <p:cNvPr id="49" name="TextBox 48"/>
          <p:cNvSpPr txBox="1"/>
          <p:nvPr/>
        </p:nvSpPr>
        <p:spPr>
          <a:xfrm>
            <a:off x="9756648" y="3401568"/>
            <a:ext cx="1088136" cy="384048"/>
          </a:xfrm>
          <a:prstGeom prst="rect">
            <a:avLst/>
          </a:prstGeom>
          <a:noFill/>
        </p:spPr>
        <p:txBody>
          <a:bodyPr wrap="square" anchor="ctr">
            <a:spAutoFit/>
          </a:bodyPr>
          <a:lstStyle/>
          <a:p>
            <a:pPr algn="ctr"/>
            <a:r>
              <a:rPr sz="830" b="0">
                <a:solidFill>
                  <a:srgbClr val="97AEAD"/>
                </a:solidFill>
                <a:latin typeface="Aptos"/>
              </a:rPr>
              <a:t>Asset flagged</a:t>
            </a:r>
          </a:p>
        </p:txBody>
      </p:sp>
      <p:sp>
        <p:nvSpPr>
          <p:cNvPr id="50" name="TextBox 49"/>
          <p:cNvSpPr txBox="1"/>
          <p:nvPr/>
        </p:nvSpPr>
        <p:spPr>
          <a:xfrm>
            <a:off x="5102352" y="4443984"/>
            <a:ext cx="1828800" cy="256032"/>
          </a:xfrm>
          <a:prstGeom prst="rect">
            <a:avLst/>
          </a:prstGeom>
          <a:noFill/>
        </p:spPr>
        <p:txBody>
          <a:bodyPr wrap="square" anchor="ctr">
            <a:spAutoFit/>
          </a:bodyPr>
          <a:lstStyle/>
          <a:p>
            <a:pPr algn="l"/>
            <a:r>
              <a:rPr sz="1000" b="1">
                <a:solidFill>
                  <a:srgbClr val="FFBE50"/>
                </a:solidFill>
                <a:latin typeface="Aptos"/>
              </a:rPr>
              <a:t>Why unsupervised?</a:t>
            </a:r>
          </a:p>
        </p:txBody>
      </p:sp>
      <p:sp>
        <p:nvSpPr>
          <p:cNvPr id="51" name="TextBox 50"/>
          <p:cNvSpPr txBox="1"/>
          <p:nvPr/>
        </p:nvSpPr>
        <p:spPr>
          <a:xfrm>
            <a:off x="5102352" y="4736592"/>
            <a:ext cx="5897880" cy="530352"/>
          </a:xfrm>
          <a:prstGeom prst="rect">
            <a:avLst/>
          </a:prstGeom>
          <a:noFill/>
        </p:spPr>
        <p:txBody>
          <a:bodyPr wrap="square" anchor="ctr">
            <a:spAutoFit/>
          </a:bodyPr>
          <a:lstStyle/>
          <a:p>
            <a:pPr algn="l"/>
            <a:r>
              <a:rPr sz="1050" b="0">
                <a:solidFill>
                  <a:srgbClr val="97AEAD"/>
                </a:solidFill>
                <a:latin typeface="Aptos"/>
              </a:rPr>
              <a:t>Rare failures are difficult to label at scale. Isolation Forest helps surface unusual combinations of telemetry.</a:t>
            </a:r>
          </a:p>
        </p:txBody>
      </p:sp>
      <p:cxnSp>
        <p:nvCxnSpPr>
          <p:cNvPr id="52" name="Connector 51"/>
          <p:cNvCxnSpPr/>
          <p:nvPr/>
        </p:nvCxnSpPr>
        <p:spPr>
          <a:xfrm>
            <a:off x="594360" y="6510528"/>
            <a:ext cx="11000232" cy="0"/>
          </a:xfrm>
          <a:prstGeom prst="line">
            <a:avLst/>
          </a:prstGeom>
          <a:ln w="10160">
            <a:solidFill>
              <a:srgbClr val="263A3E"/>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12648" y="6565392"/>
            <a:ext cx="4114800" cy="164592"/>
          </a:xfrm>
          <a:prstGeom prst="rect">
            <a:avLst/>
          </a:prstGeom>
          <a:noFill/>
        </p:spPr>
        <p:txBody>
          <a:bodyPr wrap="square" anchor="ctr">
            <a:spAutoFit/>
          </a:bodyPr>
          <a:lstStyle/>
          <a:p>
            <a:pPr algn="l"/>
            <a:r>
              <a:rPr sz="800" b="1">
                <a:solidFill>
                  <a:srgbClr val="97AEAD"/>
                </a:solidFill>
                <a:latin typeface="Aptos"/>
              </a:rPr>
              <a:t>ENERGYNEX  •  GRIDOPT AI</a:t>
            </a:r>
          </a:p>
        </p:txBody>
      </p:sp>
      <p:sp>
        <p:nvSpPr>
          <p:cNvPr id="54" name="TextBox 53"/>
          <p:cNvSpPr txBox="1"/>
          <p:nvPr/>
        </p:nvSpPr>
        <p:spPr>
          <a:xfrm>
            <a:off x="7589520" y="6565392"/>
            <a:ext cx="4023360" cy="164592"/>
          </a:xfrm>
          <a:prstGeom prst="rect">
            <a:avLst/>
          </a:prstGeom>
          <a:noFill/>
        </p:spPr>
        <p:txBody>
          <a:bodyPr wrap="square" anchor="ctr">
            <a:spAutoFit/>
          </a:bodyPr>
          <a:lstStyle/>
          <a:p>
            <a:pPr algn="r"/>
            <a:r>
              <a:rPr sz="800" b="1">
                <a:solidFill>
                  <a:srgbClr val="97AEAD"/>
                </a:solidFill>
                <a:latin typeface="Aptos"/>
              </a:rPr>
              <a:t>IBM BOB AI INNOVATION HACKATHON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D12"/>
        </a:solidFill>
        <a:effectLst/>
      </p:bgPr>
    </p:bg>
    <p:spTree>
      <p:nvGrpSpPr>
        <p:cNvPr id="1" name=""/>
        <p:cNvGrpSpPr/>
        <p:nvPr/>
      </p:nvGrpSpPr>
      <p:grpSpPr/>
      <p:cxnSp>
        <p:nvCxnSpPr>
          <p:cNvPr id="2" name="Connector 1"/>
          <p:cNvCxnSpPr/>
          <p:nvPr/>
        </p:nvCxnSpPr>
        <p:spPr>
          <a:xfrm>
            <a:off x="59436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01168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42900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4632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26364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68096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09828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1560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0" y="54864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155448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256032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0" y="356616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0" y="457200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0" y="557784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274320"/>
            <a:ext cx="1097280" cy="256032"/>
          </a:xfrm>
          <a:prstGeom prst="rect">
            <a:avLst/>
          </a:prstGeom>
          <a:noFill/>
        </p:spPr>
        <p:txBody>
          <a:bodyPr wrap="square" anchor="ctr">
            <a:spAutoFit/>
          </a:bodyPr>
          <a:lstStyle/>
          <a:p>
            <a:pPr algn="l"/>
            <a:r>
              <a:rPr sz="1000" b="1">
                <a:solidFill>
                  <a:srgbClr val="22D3BE"/>
                </a:solidFill>
                <a:latin typeface="Aptos"/>
              </a:rPr>
              <a:t>07  /  10</a:t>
            </a:r>
          </a:p>
        </p:txBody>
      </p:sp>
      <p:sp>
        <p:nvSpPr>
          <p:cNvPr id="17" name="TextBox 16"/>
          <p:cNvSpPr txBox="1"/>
          <p:nvPr/>
        </p:nvSpPr>
        <p:spPr>
          <a:xfrm>
            <a:off x="1600200" y="265176"/>
            <a:ext cx="3657600" cy="274320"/>
          </a:xfrm>
          <a:prstGeom prst="rect">
            <a:avLst/>
          </a:prstGeom>
          <a:noFill/>
        </p:spPr>
        <p:txBody>
          <a:bodyPr wrap="square" anchor="ctr">
            <a:spAutoFit/>
          </a:bodyPr>
          <a:lstStyle/>
          <a:p>
            <a:pPr algn="l"/>
            <a:r>
              <a:rPr sz="1000" b="1">
                <a:solidFill>
                  <a:srgbClr val="97AEAD"/>
                </a:solidFill>
                <a:latin typeface="Aptos"/>
              </a:rPr>
              <a:t>MODULE 3 • EXPLAIN</a:t>
            </a:r>
          </a:p>
        </p:txBody>
      </p:sp>
      <p:sp>
        <p:nvSpPr>
          <p:cNvPr id="18" name="TextBox 17"/>
          <p:cNvSpPr txBox="1"/>
          <p:nvPr/>
        </p:nvSpPr>
        <p:spPr>
          <a:xfrm>
            <a:off x="594360" y="713232"/>
            <a:ext cx="10972800" cy="566928"/>
          </a:xfrm>
          <a:prstGeom prst="rect">
            <a:avLst/>
          </a:prstGeom>
          <a:noFill/>
        </p:spPr>
        <p:txBody>
          <a:bodyPr wrap="square" anchor="ctr">
            <a:spAutoFit/>
          </a:bodyPr>
          <a:lstStyle/>
          <a:p>
            <a:pPr algn="l"/>
            <a:r>
              <a:rPr sz="2800" b="1">
                <a:solidFill>
                  <a:srgbClr val="EFF7F5"/>
                </a:solidFill>
                <a:latin typeface="Aptos"/>
              </a:rPr>
              <a:t>Tell Operators WHY the Asset Is Underperforming</a:t>
            </a:r>
          </a:p>
        </p:txBody>
      </p:sp>
      <p:sp>
        <p:nvSpPr>
          <p:cNvPr id="19" name="TextBox 18"/>
          <p:cNvSpPr txBox="1"/>
          <p:nvPr/>
        </p:nvSpPr>
        <p:spPr>
          <a:xfrm>
            <a:off x="612648" y="1298448"/>
            <a:ext cx="10789920" cy="365760"/>
          </a:xfrm>
          <a:prstGeom prst="rect">
            <a:avLst/>
          </a:prstGeom>
          <a:noFill/>
        </p:spPr>
        <p:txBody>
          <a:bodyPr wrap="square" anchor="ctr">
            <a:spAutoFit/>
          </a:bodyPr>
          <a:lstStyle/>
          <a:p>
            <a:pPr algn="l"/>
            <a:r>
              <a:rPr sz="1250" b="0">
                <a:solidFill>
                  <a:srgbClr val="97AEAD"/>
                </a:solidFill>
                <a:latin typeface="Aptos"/>
              </a:rPr>
              <a:t>Feature attribution turns an anomaly score into a maintenance hypothesis.</a:t>
            </a:r>
          </a:p>
        </p:txBody>
      </p:sp>
      <p:sp>
        <p:nvSpPr>
          <p:cNvPr id="20" name="Rounded Rectangle 19"/>
          <p:cNvSpPr/>
          <p:nvPr/>
        </p:nvSpPr>
        <p:spPr>
          <a:xfrm>
            <a:off x="658368" y="1874519"/>
            <a:ext cx="7360920" cy="3840480"/>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2139696"/>
            <a:ext cx="4297680" cy="274320"/>
          </a:xfrm>
          <a:prstGeom prst="rect">
            <a:avLst/>
          </a:prstGeom>
          <a:noFill/>
        </p:spPr>
        <p:txBody>
          <a:bodyPr wrap="square" anchor="ctr">
            <a:spAutoFit/>
          </a:bodyPr>
          <a:lstStyle/>
          <a:p>
            <a:pPr algn="l"/>
            <a:r>
              <a:rPr sz="1100" b="1">
                <a:solidFill>
                  <a:srgbClr val="22D3BE"/>
                </a:solidFill>
                <a:latin typeface="Aptos"/>
              </a:rPr>
              <a:t>SOLAR FARM A • FEATURE ATTRIBUTION</a:t>
            </a:r>
          </a:p>
        </p:txBody>
      </p:sp>
      <p:sp>
        <p:nvSpPr>
          <p:cNvPr id="22" name="TextBox 21"/>
          <p:cNvSpPr txBox="1"/>
          <p:nvPr/>
        </p:nvSpPr>
        <p:spPr>
          <a:xfrm>
            <a:off x="914400" y="2724912"/>
            <a:ext cx="1965960" cy="228600"/>
          </a:xfrm>
          <a:prstGeom prst="rect">
            <a:avLst/>
          </a:prstGeom>
          <a:noFill/>
        </p:spPr>
        <p:txBody>
          <a:bodyPr wrap="square" anchor="ctr">
            <a:spAutoFit/>
          </a:bodyPr>
          <a:lstStyle/>
          <a:p>
            <a:pPr algn="l"/>
            <a:r>
              <a:rPr sz="1050" b="1">
                <a:solidFill>
                  <a:srgbClr val="EFF7F5"/>
                </a:solidFill>
                <a:latin typeface="Aptos"/>
              </a:rPr>
              <a:t>Low solar irradiance</a:t>
            </a:r>
          </a:p>
        </p:txBody>
      </p:sp>
      <p:sp>
        <p:nvSpPr>
          <p:cNvPr id="23" name="Rounded Rectangle 22"/>
          <p:cNvSpPr/>
          <p:nvPr/>
        </p:nvSpPr>
        <p:spPr>
          <a:xfrm>
            <a:off x="2971800" y="2743200"/>
            <a:ext cx="3977639" cy="256032"/>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971800" y="2743200"/>
            <a:ext cx="3977639" cy="256032"/>
          </a:xfrm>
          <a:prstGeom prst="roundRect">
            <a:avLst>
              <a:gd name="adj" fmla="val 12000"/>
            </a:avLst>
          </a:prstGeom>
          <a:solidFill>
            <a:srgbClr val="22D3BE"/>
          </a:solidFill>
          <a:ln>
            <a:solidFill>
              <a:srgbClr val="22D3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86600" y="2715768"/>
            <a:ext cx="502920" cy="256032"/>
          </a:xfrm>
          <a:prstGeom prst="rect">
            <a:avLst/>
          </a:prstGeom>
          <a:noFill/>
        </p:spPr>
        <p:txBody>
          <a:bodyPr wrap="square" anchor="ctr">
            <a:spAutoFit/>
          </a:bodyPr>
          <a:lstStyle/>
          <a:p>
            <a:pPr algn="r"/>
            <a:r>
              <a:rPr sz="1050" b="1">
                <a:solidFill>
                  <a:srgbClr val="22D3BE"/>
                </a:solidFill>
                <a:latin typeface="Aptos"/>
              </a:rPr>
              <a:t>52%</a:t>
            </a:r>
          </a:p>
        </p:txBody>
      </p:sp>
      <p:sp>
        <p:nvSpPr>
          <p:cNvPr id="26" name="TextBox 25"/>
          <p:cNvSpPr txBox="1"/>
          <p:nvPr/>
        </p:nvSpPr>
        <p:spPr>
          <a:xfrm>
            <a:off x="914400" y="2999232"/>
            <a:ext cx="5943600" cy="201168"/>
          </a:xfrm>
          <a:prstGeom prst="rect">
            <a:avLst/>
          </a:prstGeom>
          <a:noFill/>
        </p:spPr>
        <p:txBody>
          <a:bodyPr wrap="square" anchor="ctr">
            <a:spAutoFit/>
          </a:bodyPr>
          <a:lstStyle/>
          <a:p>
            <a:pPr algn="l"/>
            <a:r>
              <a:rPr sz="850" b="0">
                <a:solidFill>
                  <a:srgbClr val="97AEAD"/>
                </a:solidFill>
                <a:latin typeface="Aptos"/>
              </a:rPr>
              <a:t>620 W/m² • localized cloud cover</a:t>
            </a:r>
          </a:p>
        </p:txBody>
      </p:sp>
      <p:sp>
        <p:nvSpPr>
          <p:cNvPr id="27" name="TextBox 26"/>
          <p:cNvSpPr txBox="1"/>
          <p:nvPr/>
        </p:nvSpPr>
        <p:spPr>
          <a:xfrm>
            <a:off x="914400" y="3383280"/>
            <a:ext cx="1965960" cy="228600"/>
          </a:xfrm>
          <a:prstGeom prst="rect">
            <a:avLst/>
          </a:prstGeom>
          <a:noFill/>
        </p:spPr>
        <p:txBody>
          <a:bodyPr wrap="square" anchor="ctr">
            <a:spAutoFit/>
          </a:bodyPr>
          <a:lstStyle/>
          <a:p>
            <a:pPr algn="l"/>
            <a:r>
              <a:rPr sz="1050" b="1">
                <a:solidFill>
                  <a:srgbClr val="EFF7F5"/>
                </a:solidFill>
                <a:latin typeface="Aptos"/>
              </a:rPr>
              <a:t>Ambient temperature</a:t>
            </a:r>
          </a:p>
        </p:txBody>
      </p:sp>
      <p:sp>
        <p:nvSpPr>
          <p:cNvPr id="28" name="Rounded Rectangle 27"/>
          <p:cNvSpPr/>
          <p:nvPr/>
        </p:nvSpPr>
        <p:spPr>
          <a:xfrm>
            <a:off x="2971800" y="3401568"/>
            <a:ext cx="3977639" cy="256032"/>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971800" y="3401568"/>
            <a:ext cx="1759340" cy="256032"/>
          </a:xfrm>
          <a:prstGeom prst="roundRect">
            <a:avLst>
              <a:gd name="adj" fmla="val 12000"/>
            </a:avLst>
          </a:prstGeom>
          <a:solidFill>
            <a:srgbClr val="FFBE50"/>
          </a:solidFill>
          <a:ln>
            <a:solidFill>
              <a:srgbClr val="FFBE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86600" y="3374136"/>
            <a:ext cx="502920" cy="256032"/>
          </a:xfrm>
          <a:prstGeom prst="rect">
            <a:avLst/>
          </a:prstGeom>
          <a:noFill/>
        </p:spPr>
        <p:txBody>
          <a:bodyPr wrap="square" anchor="ctr">
            <a:spAutoFit/>
          </a:bodyPr>
          <a:lstStyle/>
          <a:p>
            <a:pPr algn="r"/>
            <a:r>
              <a:rPr sz="1050" b="1">
                <a:solidFill>
                  <a:srgbClr val="FFBE50"/>
                </a:solidFill>
                <a:latin typeface="Aptos"/>
              </a:rPr>
              <a:t>23%</a:t>
            </a:r>
          </a:p>
        </p:txBody>
      </p:sp>
      <p:sp>
        <p:nvSpPr>
          <p:cNvPr id="31" name="TextBox 30"/>
          <p:cNvSpPr txBox="1"/>
          <p:nvPr/>
        </p:nvSpPr>
        <p:spPr>
          <a:xfrm>
            <a:off x="914400" y="3657600"/>
            <a:ext cx="5943600" cy="201168"/>
          </a:xfrm>
          <a:prstGeom prst="rect">
            <a:avLst/>
          </a:prstGeom>
          <a:noFill/>
        </p:spPr>
        <p:txBody>
          <a:bodyPr wrap="square" anchor="ctr">
            <a:spAutoFit/>
          </a:bodyPr>
          <a:lstStyle/>
          <a:p>
            <a:pPr algn="l"/>
            <a:r>
              <a:rPr sz="850" b="0">
                <a:solidFill>
                  <a:srgbClr val="97AEAD"/>
                </a:solidFill>
                <a:latin typeface="Aptos"/>
              </a:rPr>
              <a:t>38°C • thermal derating</a:t>
            </a:r>
          </a:p>
        </p:txBody>
      </p:sp>
      <p:sp>
        <p:nvSpPr>
          <p:cNvPr id="32" name="TextBox 31"/>
          <p:cNvSpPr txBox="1"/>
          <p:nvPr/>
        </p:nvSpPr>
        <p:spPr>
          <a:xfrm>
            <a:off x="914400" y="4041648"/>
            <a:ext cx="1965960" cy="228600"/>
          </a:xfrm>
          <a:prstGeom prst="rect">
            <a:avLst/>
          </a:prstGeom>
          <a:noFill/>
        </p:spPr>
        <p:txBody>
          <a:bodyPr wrap="square" anchor="ctr">
            <a:spAutoFit/>
          </a:bodyPr>
          <a:lstStyle/>
          <a:p>
            <a:pPr algn="l"/>
            <a:r>
              <a:rPr sz="1050" b="1">
                <a:solidFill>
                  <a:srgbClr val="EFF7F5"/>
                </a:solidFill>
                <a:latin typeface="Aptos"/>
              </a:rPr>
              <a:t>Inverter subgroup B</a:t>
            </a:r>
          </a:p>
        </p:txBody>
      </p:sp>
      <p:sp>
        <p:nvSpPr>
          <p:cNvPr id="33" name="Rounded Rectangle 32"/>
          <p:cNvSpPr/>
          <p:nvPr/>
        </p:nvSpPr>
        <p:spPr>
          <a:xfrm>
            <a:off x="2971800" y="4059935"/>
            <a:ext cx="3977639" cy="256032"/>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2971800" y="4059935"/>
            <a:ext cx="1376875" cy="256032"/>
          </a:xfrm>
          <a:prstGeom prst="roundRect">
            <a:avLst>
              <a:gd name="adj" fmla="val 12000"/>
            </a:avLst>
          </a:prstGeom>
          <a:solidFill>
            <a:srgbClr val="48C9FF"/>
          </a:solidFill>
          <a:ln>
            <a:solidFill>
              <a:srgbClr val="48C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86600" y="4032504"/>
            <a:ext cx="502920" cy="256032"/>
          </a:xfrm>
          <a:prstGeom prst="rect">
            <a:avLst/>
          </a:prstGeom>
          <a:noFill/>
        </p:spPr>
        <p:txBody>
          <a:bodyPr wrap="square" anchor="ctr">
            <a:spAutoFit/>
          </a:bodyPr>
          <a:lstStyle/>
          <a:p>
            <a:pPr algn="r"/>
            <a:r>
              <a:rPr sz="1050" b="1">
                <a:solidFill>
                  <a:srgbClr val="48C9FF"/>
                </a:solidFill>
                <a:latin typeface="Aptos"/>
              </a:rPr>
              <a:t>18%</a:t>
            </a:r>
          </a:p>
        </p:txBody>
      </p:sp>
      <p:sp>
        <p:nvSpPr>
          <p:cNvPr id="36" name="TextBox 35"/>
          <p:cNvSpPr txBox="1"/>
          <p:nvPr/>
        </p:nvSpPr>
        <p:spPr>
          <a:xfrm>
            <a:off x="914400" y="4315968"/>
            <a:ext cx="5943600" cy="201168"/>
          </a:xfrm>
          <a:prstGeom prst="rect">
            <a:avLst/>
          </a:prstGeom>
          <a:noFill/>
        </p:spPr>
        <p:txBody>
          <a:bodyPr wrap="square" anchor="ctr">
            <a:spAutoFit/>
          </a:bodyPr>
          <a:lstStyle/>
          <a:p>
            <a:pPr algn="l"/>
            <a:r>
              <a:rPr sz="850" b="0">
                <a:solidFill>
                  <a:srgbClr val="97AEAD"/>
                </a:solidFill>
                <a:latin typeface="Aptos"/>
              </a:rPr>
              <a:t>Efficiency drop • throttling</a:t>
            </a:r>
          </a:p>
        </p:txBody>
      </p:sp>
      <p:sp>
        <p:nvSpPr>
          <p:cNvPr id="37" name="TextBox 36"/>
          <p:cNvSpPr txBox="1"/>
          <p:nvPr/>
        </p:nvSpPr>
        <p:spPr>
          <a:xfrm>
            <a:off x="914400" y="4700016"/>
            <a:ext cx="1965960" cy="228600"/>
          </a:xfrm>
          <a:prstGeom prst="rect">
            <a:avLst/>
          </a:prstGeom>
          <a:noFill/>
        </p:spPr>
        <p:txBody>
          <a:bodyPr wrap="square" anchor="ctr">
            <a:spAutoFit/>
          </a:bodyPr>
          <a:lstStyle/>
          <a:p>
            <a:pPr algn="l"/>
            <a:r>
              <a:rPr sz="1050" b="1">
                <a:solidFill>
                  <a:srgbClr val="EFF7F5"/>
                </a:solidFill>
                <a:latin typeface="Aptos"/>
              </a:rPr>
              <a:t>Panel soiling</a:t>
            </a:r>
          </a:p>
        </p:txBody>
      </p:sp>
      <p:sp>
        <p:nvSpPr>
          <p:cNvPr id="38" name="Rounded Rectangle 37"/>
          <p:cNvSpPr/>
          <p:nvPr/>
        </p:nvSpPr>
        <p:spPr>
          <a:xfrm>
            <a:off x="2971800" y="4718304"/>
            <a:ext cx="3977639" cy="256032"/>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2971800" y="4718304"/>
            <a:ext cx="535451" cy="256032"/>
          </a:xfrm>
          <a:prstGeom prst="roundRect">
            <a:avLst>
              <a:gd name="adj" fmla="val 12000"/>
            </a:avLst>
          </a:prstGeom>
          <a:solidFill>
            <a:srgbClr val="70E777"/>
          </a:solidFill>
          <a:ln>
            <a:solidFill>
              <a:srgbClr val="70E7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86600" y="4690872"/>
            <a:ext cx="502920" cy="256032"/>
          </a:xfrm>
          <a:prstGeom prst="rect">
            <a:avLst/>
          </a:prstGeom>
          <a:noFill/>
        </p:spPr>
        <p:txBody>
          <a:bodyPr wrap="square" anchor="ctr">
            <a:spAutoFit/>
          </a:bodyPr>
          <a:lstStyle/>
          <a:p>
            <a:pPr algn="r"/>
            <a:r>
              <a:rPr sz="1050" b="1">
                <a:solidFill>
                  <a:srgbClr val="70E777"/>
                </a:solidFill>
                <a:latin typeface="Aptos"/>
              </a:rPr>
              <a:t>7%</a:t>
            </a:r>
          </a:p>
        </p:txBody>
      </p:sp>
      <p:sp>
        <p:nvSpPr>
          <p:cNvPr id="41" name="TextBox 40"/>
          <p:cNvSpPr txBox="1"/>
          <p:nvPr/>
        </p:nvSpPr>
        <p:spPr>
          <a:xfrm>
            <a:off x="914400" y="4974336"/>
            <a:ext cx="5943600" cy="201168"/>
          </a:xfrm>
          <a:prstGeom prst="rect">
            <a:avLst/>
          </a:prstGeom>
          <a:noFill/>
        </p:spPr>
        <p:txBody>
          <a:bodyPr wrap="square" anchor="ctr">
            <a:spAutoFit/>
          </a:bodyPr>
          <a:lstStyle/>
          <a:p>
            <a:pPr algn="l"/>
            <a:r>
              <a:rPr sz="850" b="0">
                <a:solidFill>
                  <a:srgbClr val="97AEAD"/>
                </a:solidFill>
                <a:latin typeface="Aptos"/>
              </a:rPr>
              <a:t>Dust accumulation</a:t>
            </a:r>
          </a:p>
        </p:txBody>
      </p:sp>
      <p:sp>
        <p:nvSpPr>
          <p:cNvPr id="42" name="Rounded Rectangle 41"/>
          <p:cNvSpPr/>
          <p:nvPr/>
        </p:nvSpPr>
        <p:spPr>
          <a:xfrm>
            <a:off x="8339327" y="1874519"/>
            <a:ext cx="3236976" cy="3840480"/>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13648" y="2167128"/>
            <a:ext cx="2468880" cy="274320"/>
          </a:xfrm>
          <a:prstGeom prst="rect">
            <a:avLst/>
          </a:prstGeom>
          <a:noFill/>
        </p:spPr>
        <p:txBody>
          <a:bodyPr wrap="square" anchor="ctr">
            <a:spAutoFit/>
          </a:bodyPr>
          <a:lstStyle/>
          <a:p>
            <a:pPr algn="l"/>
            <a:r>
              <a:rPr sz="1100" b="1">
                <a:solidFill>
                  <a:srgbClr val="FFBE50"/>
                </a:solidFill>
                <a:latin typeface="Aptos"/>
              </a:rPr>
              <a:t>ROOT CAUSE STORY</a:t>
            </a:r>
          </a:p>
        </p:txBody>
      </p:sp>
      <p:sp>
        <p:nvSpPr>
          <p:cNvPr id="44" name="TextBox 43"/>
          <p:cNvSpPr txBox="1"/>
          <p:nvPr/>
        </p:nvSpPr>
        <p:spPr>
          <a:xfrm>
            <a:off x="8613648" y="2670048"/>
            <a:ext cx="1097280" cy="228600"/>
          </a:xfrm>
          <a:prstGeom prst="rect">
            <a:avLst/>
          </a:prstGeom>
          <a:noFill/>
        </p:spPr>
        <p:txBody>
          <a:bodyPr wrap="square" anchor="ctr">
            <a:spAutoFit/>
          </a:bodyPr>
          <a:lstStyle/>
          <a:p>
            <a:pPr algn="l"/>
            <a:r>
              <a:rPr sz="900" b="1">
                <a:solidFill>
                  <a:srgbClr val="97AEAD"/>
                </a:solidFill>
                <a:latin typeface="Aptos"/>
              </a:rPr>
              <a:t>PRIMARY</a:t>
            </a:r>
          </a:p>
        </p:txBody>
      </p:sp>
      <p:sp>
        <p:nvSpPr>
          <p:cNvPr id="45" name="TextBox 44"/>
          <p:cNvSpPr txBox="1"/>
          <p:nvPr/>
        </p:nvSpPr>
        <p:spPr>
          <a:xfrm>
            <a:off x="8613648" y="2926080"/>
            <a:ext cx="2560320" cy="347472"/>
          </a:xfrm>
          <a:prstGeom prst="rect">
            <a:avLst/>
          </a:prstGeom>
          <a:noFill/>
        </p:spPr>
        <p:txBody>
          <a:bodyPr wrap="square" anchor="ctr">
            <a:spAutoFit/>
          </a:bodyPr>
          <a:lstStyle/>
          <a:p>
            <a:pPr algn="l"/>
            <a:r>
              <a:rPr sz="1900" b="1">
                <a:solidFill>
                  <a:srgbClr val="22D3BE"/>
                </a:solidFill>
                <a:latin typeface="Aptos"/>
              </a:rPr>
              <a:t>Cloud cover</a:t>
            </a:r>
          </a:p>
        </p:txBody>
      </p:sp>
      <p:sp>
        <p:nvSpPr>
          <p:cNvPr id="46" name="TextBox 45"/>
          <p:cNvSpPr txBox="1"/>
          <p:nvPr/>
        </p:nvSpPr>
        <p:spPr>
          <a:xfrm>
            <a:off x="8613648" y="3511296"/>
            <a:ext cx="1371600" cy="228600"/>
          </a:xfrm>
          <a:prstGeom prst="rect">
            <a:avLst/>
          </a:prstGeom>
          <a:noFill/>
        </p:spPr>
        <p:txBody>
          <a:bodyPr wrap="square" anchor="ctr">
            <a:spAutoFit/>
          </a:bodyPr>
          <a:lstStyle/>
          <a:p>
            <a:pPr algn="l"/>
            <a:r>
              <a:rPr sz="900" b="1">
                <a:solidFill>
                  <a:srgbClr val="97AEAD"/>
                </a:solidFill>
                <a:latin typeface="Aptos"/>
              </a:rPr>
              <a:t>SECONDARY</a:t>
            </a:r>
          </a:p>
        </p:txBody>
      </p:sp>
      <p:sp>
        <p:nvSpPr>
          <p:cNvPr id="47" name="TextBox 46"/>
          <p:cNvSpPr txBox="1"/>
          <p:nvPr/>
        </p:nvSpPr>
        <p:spPr>
          <a:xfrm>
            <a:off x="8613648" y="3767328"/>
            <a:ext cx="2560320" cy="347472"/>
          </a:xfrm>
          <a:prstGeom prst="rect">
            <a:avLst/>
          </a:prstGeom>
          <a:noFill/>
        </p:spPr>
        <p:txBody>
          <a:bodyPr wrap="square" anchor="ctr">
            <a:spAutoFit/>
          </a:bodyPr>
          <a:lstStyle/>
          <a:p>
            <a:pPr algn="l"/>
            <a:r>
              <a:rPr sz="1600" b="1">
                <a:solidFill>
                  <a:srgbClr val="EFF7F5"/>
                </a:solidFill>
                <a:latin typeface="Aptos"/>
              </a:rPr>
              <a:t>Thermal + inverter</a:t>
            </a:r>
          </a:p>
        </p:txBody>
      </p:sp>
      <p:sp>
        <p:nvSpPr>
          <p:cNvPr id="48" name="TextBox 47"/>
          <p:cNvSpPr txBox="1"/>
          <p:nvPr/>
        </p:nvSpPr>
        <p:spPr>
          <a:xfrm>
            <a:off x="8613648" y="4370832"/>
            <a:ext cx="2286000" cy="228600"/>
          </a:xfrm>
          <a:prstGeom prst="rect">
            <a:avLst/>
          </a:prstGeom>
          <a:noFill/>
        </p:spPr>
        <p:txBody>
          <a:bodyPr wrap="square" anchor="ctr">
            <a:spAutoFit/>
          </a:bodyPr>
          <a:lstStyle/>
          <a:p>
            <a:pPr algn="l"/>
            <a:r>
              <a:rPr sz="900" b="1">
                <a:solidFill>
                  <a:srgbClr val="97AEAD"/>
                </a:solidFill>
                <a:latin typeface="Aptos"/>
              </a:rPr>
              <a:t>MAINTENANCE HYPOTHESIS</a:t>
            </a:r>
          </a:p>
        </p:txBody>
      </p:sp>
      <p:sp>
        <p:nvSpPr>
          <p:cNvPr id="49" name="TextBox 48"/>
          <p:cNvSpPr txBox="1"/>
          <p:nvPr/>
        </p:nvSpPr>
        <p:spPr>
          <a:xfrm>
            <a:off x="8613648" y="4645152"/>
            <a:ext cx="2514600" cy="594360"/>
          </a:xfrm>
          <a:prstGeom prst="rect">
            <a:avLst/>
          </a:prstGeom>
          <a:noFill/>
        </p:spPr>
        <p:txBody>
          <a:bodyPr wrap="square" anchor="ctr">
            <a:spAutoFit/>
          </a:bodyPr>
          <a:lstStyle/>
          <a:p>
            <a:pPr algn="l"/>
            <a:r>
              <a:rPr sz="1050" b="1">
                <a:solidFill>
                  <a:srgbClr val="EFF7F5"/>
                </a:solidFill>
                <a:latin typeface="Aptos"/>
              </a:rPr>
              <a:t>Check inverter subgroup B before dispatching a full-site crew.</a:t>
            </a:r>
          </a:p>
        </p:txBody>
      </p:sp>
      <p:cxnSp>
        <p:nvCxnSpPr>
          <p:cNvPr id="50" name="Connector 49"/>
          <p:cNvCxnSpPr/>
          <p:nvPr/>
        </p:nvCxnSpPr>
        <p:spPr>
          <a:xfrm>
            <a:off x="594360" y="6510528"/>
            <a:ext cx="11000232" cy="0"/>
          </a:xfrm>
          <a:prstGeom prst="line">
            <a:avLst/>
          </a:prstGeom>
          <a:ln w="10160">
            <a:solidFill>
              <a:srgbClr val="263A3E"/>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12648" y="6565392"/>
            <a:ext cx="4114800" cy="164592"/>
          </a:xfrm>
          <a:prstGeom prst="rect">
            <a:avLst/>
          </a:prstGeom>
          <a:noFill/>
        </p:spPr>
        <p:txBody>
          <a:bodyPr wrap="square" anchor="ctr">
            <a:spAutoFit/>
          </a:bodyPr>
          <a:lstStyle/>
          <a:p>
            <a:pPr algn="l"/>
            <a:r>
              <a:rPr sz="800" b="1">
                <a:solidFill>
                  <a:srgbClr val="97AEAD"/>
                </a:solidFill>
                <a:latin typeface="Aptos"/>
              </a:rPr>
              <a:t>ENERGYNEX  •  GRIDOPT AI</a:t>
            </a:r>
          </a:p>
        </p:txBody>
      </p:sp>
      <p:sp>
        <p:nvSpPr>
          <p:cNvPr id="52" name="TextBox 51"/>
          <p:cNvSpPr txBox="1"/>
          <p:nvPr/>
        </p:nvSpPr>
        <p:spPr>
          <a:xfrm>
            <a:off x="7589520" y="6565392"/>
            <a:ext cx="4023360" cy="164592"/>
          </a:xfrm>
          <a:prstGeom prst="rect">
            <a:avLst/>
          </a:prstGeom>
          <a:noFill/>
        </p:spPr>
        <p:txBody>
          <a:bodyPr wrap="square" anchor="ctr">
            <a:spAutoFit/>
          </a:bodyPr>
          <a:lstStyle/>
          <a:p>
            <a:pPr algn="r"/>
            <a:r>
              <a:rPr sz="800" b="1">
                <a:solidFill>
                  <a:srgbClr val="97AEAD"/>
                </a:solidFill>
                <a:latin typeface="Aptos"/>
              </a:rPr>
              <a:t>IBM BOB AI INNOVATION HACKATHON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D12"/>
        </a:solidFill>
        <a:effectLst/>
      </p:bgPr>
    </p:bg>
    <p:spTree>
      <p:nvGrpSpPr>
        <p:cNvPr id="1" name=""/>
        <p:cNvGrpSpPr/>
        <p:nvPr/>
      </p:nvGrpSpPr>
      <p:grpSpPr/>
      <p:cxnSp>
        <p:nvCxnSpPr>
          <p:cNvPr id="2" name="Connector 1"/>
          <p:cNvCxnSpPr/>
          <p:nvPr/>
        </p:nvCxnSpPr>
        <p:spPr>
          <a:xfrm>
            <a:off x="59436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01168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42900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4632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26364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68096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09828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1560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0" y="54864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155448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256032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0" y="356616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0" y="457200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0" y="557784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274320"/>
            <a:ext cx="1097280" cy="256032"/>
          </a:xfrm>
          <a:prstGeom prst="rect">
            <a:avLst/>
          </a:prstGeom>
          <a:noFill/>
        </p:spPr>
        <p:txBody>
          <a:bodyPr wrap="square" anchor="ctr">
            <a:spAutoFit/>
          </a:bodyPr>
          <a:lstStyle/>
          <a:p>
            <a:pPr algn="l"/>
            <a:r>
              <a:rPr sz="1000" b="1">
                <a:solidFill>
                  <a:srgbClr val="22D3BE"/>
                </a:solidFill>
                <a:latin typeface="Aptos"/>
              </a:rPr>
              <a:t>08  /  10</a:t>
            </a:r>
          </a:p>
        </p:txBody>
      </p:sp>
      <p:sp>
        <p:nvSpPr>
          <p:cNvPr id="17" name="TextBox 16"/>
          <p:cNvSpPr txBox="1"/>
          <p:nvPr/>
        </p:nvSpPr>
        <p:spPr>
          <a:xfrm>
            <a:off x="1600200" y="265176"/>
            <a:ext cx="3657600" cy="274320"/>
          </a:xfrm>
          <a:prstGeom prst="rect">
            <a:avLst/>
          </a:prstGeom>
          <a:noFill/>
        </p:spPr>
        <p:txBody>
          <a:bodyPr wrap="square" anchor="ctr">
            <a:spAutoFit/>
          </a:bodyPr>
          <a:lstStyle/>
          <a:p>
            <a:pPr algn="l"/>
            <a:r>
              <a:rPr sz="1000" b="1">
                <a:solidFill>
                  <a:srgbClr val="97AEAD"/>
                </a:solidFill>
                <a:latin typeface="Aptos"/>
              </a:rPr>
              <a:t>MODULE 4 • OPTIMISE</a:t>
            </a:r>
          </a:p>
        </p:txBody>
      </p:sp>
      <p:sp>
        <p:nvSpPr>
          <p:cNvPr id="18" name="TextBox 17"/>
          <p:cNvSpPr txBox="1"/>
          <p:nvPr/>
        </p:nvSpPr>
        <p:spPr>
          <a:xfrm>
            <a:off x="594360" y="713232"/>
            <a:ext cx="10972800" cy="566928"/>
          </a:xfrm>
          <a:prstGeom prst="rect">
            <a:avLst/>
          </a:prstGeom>
          <a:noFill/>
        </p:spPr>
        <p:txBody>
          <a:bodyPr wrap="square" anchor="ctr">
            <a:spAutoFit/>
          </a:bodyPr>
          <a:lstStyle/>
          <a:p>
            <a:pPr algn="l"/>
            <a:r>
              <a:rPr sz="2800" b="1">
                <a:solidFill>
                  <a:srgbClr val="EFF7F5"/>
                </a:solidFill>
                <a:latin typeface="Aptos"/>
              </a:rPr>
              <a:t>Turn Wasted Renewable Power Into Useful Work</a:t>
            </a:r>
          </a:p>
        </p:txBody>
      </p:sp>
      <p:sp>
        <p:nvSpPr>
          <p:cNvPr id="19" name="TextBox 18"/>
          <p:cNvSpPr txBox="1"/>
          <p:nvPr/>
        </p:nvSpPr>
        <p:spPr>
          <a:xfrm>
            <a:off x="612648" y="1298448"/>
            <a:ext cx="10789920" cy="365760"/>
          </a:xfrm>
          <a:prstGeom prst="rect">
            <a:avLst/>
          </a:prstGeom>
          <a:noFill/>
        </p:spPr>
        <p:txBody>
          <a:bodyPr wrap="square" anchor="ctr">
            <a:spAutoFit/>
          </a:bodyPr>
          <a:lstStyle/>
          <a:p>
            <a:pPr algn="l"/>
            <a:r>
              <a:rPr sz="1250" b="0">
                <a:solidFill>
                  <a:srgbClr val="97AEAD"/>
                </a:solidFill>
                <a:latin typeface="Aptos"/>
              </a:rPr>
              <a:t>A constraint-aware plan absorbs clean energy while reducing grid stress.</a:t>
            </a:r>
          </a:p>
        </p:txBody>
      </p:sp>
      <p:sp>
        <p:nvSpPr>
          <p:cNvPr id="20" name="Rounded Rectangle 19"/>
          <p:cNvSpPr/>
          <p:nvPr/>
        </p:nvSpPr>
        <p:spPr>
          <a:xfrm>
            <a:off x="658368" y="1874519"/>
            <a:ext cx="2926080" cy="3840480"/>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2148840"/>
            <a:ext cx="2377440" cy="274320"/>
          </a:xfrm>
          <a:prstGeom prst="rect">
            <a:avLst/>
          </a:prstGeom>
          <a:noFill/>
        </p:spPr>
        <p:txBody>
          <a:bodyPr wrap="square" anchor="ctr">
            <a:spAutoFit/>
          </a:bodyPr>
          <a:lstStyle/>
          <a:p>
            <a:pPr algn="l"/>
            <a:r>
              <a:rPr sz="1100" b="1">
                <a:solidFill>
                  <a:srgbClr val="22D3BE"/>
                </a:solidFill>
                <a:latin typeface="Aptos"/>
              </a:rPr>
              <a:t>CURTAILMENT SNAPSHOT</a:t>
            </a:r>
          </a:p>
        </p:txBody>
      </p:sp>
      <p:sp>
        <p:nvSpPr>
          <p:cNvPr id="22" name="TextBox 21"/>
          <p:cNvSpPr txBox="1"/>
          <p:nvPr/>
        </p:nvSpPr>
        <p:spPr>
          <a:xfrm>
            <a:off x="914400" y="2697480"/>
            <a:ext cx="2103120" cy="502920"/>
          </a:xfrm>
          <a:prstGeom prst="rect">
            <a:avLst/>
          </a:prstGeom>
          <a:noFill/>
        </p:spPr>
        <p:txBody>
          <a:bodyPr wrap="square" anchor="ctr">
            <a:spAutoFit/>
          </a:bodyPr>
          <a:lstStyle/>
          <a:p>
            <a:pPr algn="l"/>
            <a:r>
              <a:rPr sz="2800" b="1">
                <a:solidFill>
                  <a:srgbClr val="EFF7F5"/>
                </a:solidFill>
                <a:latin typeface="Aptos"/>
              </a:rPr>
              <a:t>6.29 GW</a:t>
            </a:r>
          </a:p>
        </p:txBody>
      </p:sp>
      <p:sp>
        <p:nvSpPr>
          <p:cNvPr id="23" name="TextBox 22"/>
          <p:cNvSpPr txBox="1"/>
          <p:nvPr/>
        </p:nvSpPr>
        <p:spPr>
          <a:xfrm>
            <a:off x="914400" y="3182112"/>
            <a:ext cx="2011680" cy="256032"/>
          </a:xfrm>
          <a:prstGeom prst="rect">
            <a:avLst/>
          </a:prstGeom>
          <a:noFill/>
        </p:spPr>
        <p:txBody>
          <a:bodyPr wrap="square" anchor="ctr">
            <a:spAutoFit/>
          </a:bodyPr>
          <a:lstStyle/>
          <a:p>
            <a:pPr algn="l"/>
            <a:r>
              <a:rPr sz="950" b="0">
                <a:solidFill>
                  <a:srgbClr val="97AEAD"/>
                </a:solidFill>
                <a:latin typeface="Aptos"/>
              </a:rPr>
              <a:t>available renewable</a:t>
            </a:r>
          </a:p>
        </p:txBody>
      </p:sp>
      <p:sp>
        <p:nvSpPr>
          <p:cNvPr id="24" name="TextBox 23"/>
          <p:cNvSpPr txBox="1"/>
          <p:nvPr/>
        </p:nvSpPr>
        <p:spPr>
          <a:xfrm>
            <a:off x="914400" y="3749039"/>
            <a:ext cx="2011680" cy="502920"/>
          </a:xfrm>
          <a:prstGeom prst="rect">
            <a:avLst/>
          </a:prstGeom>
          <a:noFill/>
        </p:spPr>
        <p:txBody>
          <a:bodyPr wrap="square" anchor="ctr">
            <a:spAutoFit/>
          </a:bodyPr>
          <a:lstStyle/>
          <a:p>
            <a:pPr algn="l"/>
            <a:r>
              <a:rPr sz="2800" b="1">
                <a:solidFill>
                  <a:srgbClr val="FF5C5C"/>
                </a:solidFill>
                <a:latin typeface="Aptos"/>
              </a:rPr>
              <a:t>420 MW</a:t>
            </a:r>
          </a:p>
        </p:txBody>
      </p:sp>
      <p:sp>
        <p:nvSpPr>
          <p:cNvPr id="25" name="TextBox 24"/>
          <p:cNvSpPr txBox="1"/>
          <p:nvPr/>
        </p:nvSpPr>
        <p:spPr>
          <a:xfrm>
            <a:off x="914400" y="4233672"/>
            <a:ext cx="2011680" cy="256032"/>
          </a:xfrm>
          <a:prstGeom prst="rect">
            <a:avLst/>
          </a:prstGeom>
          <a:noFill/>
        </p:spPr>
        <p:txBody>
          <a:bodyPr wrap="square" anchor="ctr">
            <a:spAutoFit/>
          </a:bodyPr>
          <a:lstStyle/>
          <a:p>
            <a:pPr algn="l"/>
            <a:r>
              <a:rPr sz="950" b="0">
                <a:solidFill>
                  <a:srgbClr val="97AEAD"/>
                </a:solidFill>
                <a:latin typeface="Aptos"/>
              </a:rPr>
              <a:t>curtailed clean power</a:t>
            </a:r>
          </a:p>
        </p:txBody>
      </p:sp>
      <p:sp>
        <p:nvSpPr>
          <p:cNvPr id="26" name="Rounded Rectangle 25"/>
          <p:cNvSpPr/>
          <p:nvPr/>
        </p:nvSpPr>
        <p:spPr>
          <a:xfrm>
            <a:off x="914400" y="4892040"/>
            <a:ext cx="1828800" cy="310896"/>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901183"/>
            <a:ext cx="1828800" cy="256032"/>
          </a:xfrm>
          <a:prstGeom prst="rect">
            <a:avLst/>
          </a:prstGeom>
          <a:noFill/>
        </p:spPr>
        <p:txBody>
          <a:bodyPr wrap="square" anchor="ctr">
            <a:spAutoFit/>
          </a:bodyPr>
          <a:lstStyle/>
          <a:p>
            <a:pPr algn="ctr"/>
            <a:r>
              <a:rPr sz="900" b="1">
                <a:solidFill>
                  <a:srgbClr val="70E777"/>
                </a:solidFill>
                <a:latin typeface="Aptos"/>
              </a:rPr>
              <a:t>71.4% REDUCTION</a:t>
            </a:r>
          </a:p>
        </p:txBody>
      </p:sp>
      <p:sp>
        <p:nvSpPr>
          <p:cNvPr id="28" name="Rounded Rectangle 27"/>
          <p:cNvSpPr/>
          <p:nvPr/>
        </p:nvSpPr>
        <p:spPr>
          <a:xfrm>
            <a:off x="3913632" y="1874519"/>
            <a:ext cx="7662672" cy="3840480"/>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87952" y="2148840"/>
            <a:ext cx="3108960" cy="274320"/>
          </a:xfrm>
          <a:prstGeom prst="rect">
            <a:avLst/>
          </a:prstGeom>
          <a:noFill/>
        </p:spPr>
        <p:txBody>
          <a:bodyPr wrap="square" anchor="ctr">
            <a:spAutoFit/>
          </a:bodyPr>
          <a:lstStyle/>
          <a:p>
            <a:pPr algn="l"/>
            <a:r>
              <a:rPr sz="1100" b="1">
                <a:solidFill>
                  <a:srgbClr val="22D3BE"/>
                </a:solidFill>
                <a:latin typeface="Aptos"/>
              </a:rPr>
              <a:t>3-STEP AI ABSORPTION PLAN</a:t>
            </a:r>
          </a:p>
        </p:txBody>
      </p:sp>
      <p:sp>
        <p:nvSpPr>
          <p:cNvPr id="30" name="Oval 29"/>
          <p:cNvSpPr/>
          <p:nvPr/>
        </p:nvSpPr>
        <p:spPr>
          <a:xfrm>
            <a:off x="4187952" y="2679192"/>
            <a:ext cx="384048" cy="384048"/>
          </a:xfrm>
          <a:prstGeom prst="ellipse">
            <a:avLst/>
          </a:prstGeom>
          <a:solidFill>
            <a:srgbClr val="22D3BE"/>
          </a:solidFill>
          <a:ln>
            <a:solidFill>
              <a:srgbClr val="22D3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87952" y="2743200"/>
            <a:ext cx="384048" cy="164592"/>
          </a:xfrm>
          <a:prstGeom prst="rect">
            <a:avLst/>
          </a:prstGeom>
          <a:noFill/>
        </p:spPr>
        <p:txBody>
          <a:bodyPr wrap="square" anchor="ctr">
            <a:spAutoFit/>
          </a:bodyPr>
          <a:lstStyle/>
          <a:p>
            <a:pPr algn="ctr"/>
            <a:r>
              <a:rPr sz="800" b="1">
                <a:solidFill>
                  <a:srgbClr val="070D12"/>
                </a:solidFill>
                <a:latin typeface="Aptos"/>
              </a:rPr>
              <a:t>01</a:t>
            </a:r>
          </a:p>
        </p:txBody>
      </p:sp>
      <p:sp>
        <p:nvSpPr>
          <p:cNvPr id="32" name="TextBox 31"/>
          <p:cNvSpPr txBox="1"/>
          <p:nvPr/>
        </p:nvSpPr>
        <p:spPr>
          <a:xfrm>
            <a:off x="4736592" y="2660904"/>
            <a:ext cx="3154680" cy="256032"/>
          </a:xfrm>
          <a:prstGeom prst="rect">
            <a:avLst/>
          </a:prstGeom>
          <a:noFill/>
        </p:spPr>
        <p:txBody>
          <a:bodyPr wrap="square" anchor="ctr">
            <a:spAutoFit/>
          </a:bodyPr>
          <a:lstStyle/>
          <a:p>
            <a:pPr algn="l"/>
            <a:r>
              <a:rPr sz="1050" b="1">
                <a:solidFill>
                  <a:srgbClr val="EFF7F5"/>
                </a:solidFill>
                <a:latin typeface="Aptos"/>
              </a:rPr>
              <a:t>SHIFT INDUSTRIAL LOAD</a:t>
            </a:r>
          </a:p>
        </p:txBody>
      </p:sp>
      <p:sp>
        <p:nvSpPr>
          <p:cNvPr id="33" name="TextBox 32"/>
          <p:cNvSpPr txBox="1"/>
          <p:nvPr/>
        </p:nvSpPr>
        <p:spPr>
          <a:xfrm>
            <a:off x="7973568" y="2660904"/>
            <a:ext cx="960120" cy="256032"/>
          </a:xfrm>
          <a:prstGeom prst="rect">
            <a:avLst/>
          </a:prstGeom>
          <a:noFill/>
        </p:spPr>
        <p:txBody>
          <a:bodyPr wrap="square" anchor="ctr">
            <a:spAutoFit/>
          </a:bodyPr>
          <a:lstStyle/>
          <a:p>
            <a:pPr algn="r"/>
            <a:r>
              <a:rPr sz="1200" b="1">
                <a:solidFill>
                  <a:srgbClr val="22D3BE"/>
                </a:solidFill>
                <a:latin typeface="Aptos"/>
              </a:rPr>
              <a:t>150 MW</a:t>
            </a:r>
          </a:p>
        </p:txBody>
      </p:sp>
      <p:sp>
        <p:nvSpPr>
          <p:cNvPr id="34" name="TextBox 33"/>
          <p:cNvSpPr txBox="1"/>
          <p:nvPr/>
        </p:nvSpPr>
        <p:spPr>
          <a:xfrm>
            <a:off x="4736592" y="2962656"/>
            <a:ext cx="6080760" cy="228600"/>
          </a:xfrm>
          <a:prstGeom prst="rect">
            <a:avLst/>
          </a:prstGeom>
          <a:noFill/>
        </p:spPr>
        <p:txBody>
          <a:bodyPr wrap="square" anchor="ctr">
            <a:spAutoFit/>
          </a:bodyPr>
          <a:lstStyle/>
          <a:p>
            <a:pPr algn="l"/>
            <a:r>
              <a:rPr sz="880" b="0">
                <a:solidFill>
                  <a:srgbClr val="97AEAD"/>
                </a:solidFill>
                <a:latin typeface="Aptos"/>
              </a:rPr>
              <a:t>Move flexible manufacturing into the solar window.</a:t>
            </a:r>
          </a:p>
        </p:txBody>
      </p:sp>
      <p:sp>
        <p:nvSpPr>
          <p:cNvPr id="35" name="Oval 34"/>
          <p:cNvSpPr/>
          <p:nvPr/>
        </p:nvSpPr>
        <p:spPr>
          <a:xfrm>
            <a:off x="4187952" y="3520440"/>
            <a:ext cx="384048" cy="384048"/>
          </a:xfrm>
          <a:prstGeom prst="ellipse">
            <a:avLst/>
          </a:prstGeom>
          <a:solidFill>
            <a:srgbClr val="70E777"/>
          </a:solidFill>
          <a:ln>
            <a:solidFill>
              <a:srgbClr val="70E7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87952" y="3584448"/>
            <a:ext cx="384048" cy="164592"/>
          </a:xfrm>
          <a:prstGeom prst="rect">
            <a:avLst/>
          </a:prstGeom>
          <a:noFill/>
        </p:spPr>
        <p:txBody>
          <a:bodyPr wrap="square" anchor="ctr">
            <a:spAutoFit/>
          </a:bodyPr>
          <a:lstStyle/>
          <a:p>
            <a:pPr algn="ctr"/>
            <a:r>
              <a:rPr sz="800" b="1">
                <a:solidFill>
                  <a:srgbClr val="070D12"/>
                </a:solidFill>
                <a:latin typeface="Aptos"/>
              </a:rPr>
              <a:t>02</a:t>
            </a:r>
          </a:p>
        </p:txBody>
      </p:sp>
      <p:sp>
        <p:nvSpPr>
          <p:cNvPr id="37" name="TextBox 36"/>
          <p:cNvSpPr txBox="1"/>
          <p:nvPr/>
        </p:nvSpPr>
        <p:spPr>
          <a:xfrm>
            <a:off x="4736592" y="3502152"/>
            <a:ext cx="3154680" cy="256032"/>
          </a:xfrm>
          <a:prstGeom prst="rect">
            <a:avLst/>
          </a:prstGeom>
          <a:noFill/>
        </p:spPr>
        <p:txBody>
          <a:bodyPr wrap="square" anchor="ctr">
            <a:spAutoFit/>
          </a:bodyPr>
          <a:lstStyle/>
          <a:p>
            <a:pPr algn="l"/>
            <a:r>
              <a:rPr sz="1050" b="1">
                <a:solidFill>
                  <a:srgbClr val="EFF7F5"/>
                </a:solidFill>
                <a:latin typeface="Aptos"/>
              </a:rPr>
              <a:t>INCREASE RENEWABLE DISPATCH</a:t>
            </a:r>
          </a:p>
        </p:txBody>
      </p:sp>
      <p:sp>
        <p:nvSpPr>
          <p:cNvPr id="38" name="TextBox 37"/>
          <p:cNvSpPr txBox="1"/>
          <p:nvPr/>
        </p:nvSpPr>
        <p:spPr>
          <a:xfrm>
            <a:off x="7973568" y="3502152"/>
            <a:ext cx="960120" cy="256032"/>
          </a:xfrm>
          <a:prstGeom prst="rect">
            <a:avLst/>
          </a:prstGeom>
          <a:noFill/>
        </p:spPr>
        <p:txBody>
          <a:bodyPr wrap="square" anchor="ctr">
            <a:spAutoFit/>
          </a:bodyPr>
          <a:lstStyle/>
          <a:p>
            <a:pPr algn="r"/>
            <a:r>
              <a:rPr sz="1200" b="1">
                <a:solidFill>
                  <a:srgbClr val="70E777"/>
                </a:solidFill>
                <a:latin typeface="Aptos"/>
              </a:rPr>
              <a:t>80 MW</a:t>
            </a:r>
          </a:p>
        </p:txBody>
      </p:sp>
      <p:sp>
        <p:nvSpPr>
          <p:cNvPr id="39" name="TextBox 38"/>
          <p:cNvSpPr txBox="1"/>
          <p:nvPr/>
        </p:nvSpPr>
        <p:spPr>
          <a:xfrm>
            <a:off x="4736592" y="3803904"/>
            <a:ext cx="6080760" cy="228600"/>
          </a:xfrm>
          <a:prstGeom prst="rect">
            <a:avLst/>
          </a:prstGeom>
          <a:noFill/>
        </p:spPr>
        <p:txBody>
          <a:bodyPr wrap="square" anchor="ctr">
            <a:spAutoFit/>
          </a:bodyPr>
          <a:lstStyle/>
          <a:p>
            <a:pPr algn="l"/>
            <a:r>
              <a:rPr sz="880" b="0">
                <a:solidFill>
                  <a:srgbClr val="97AEAD"/>
                </a:solidFill>
                <a:latin typeface="Aptos"/>
              </a:rPr>
              <a:t>Use unconstrained feeder headroom.</a:t>
            </a:r>
          </a:p>
        </p:txBody>
      </p:sp>
      <p:sp>
        <p:nvSpPr>
          <p:cNvPr id="40" name="Oval 39"/>
          <p:cNvSpPr/>
          <p:nvPr/>
        </p:nvSpPr>
        <p:spPr>
          <a:xfrm>
            <a:off x="4187952" y="4361688"/>
            <a:ext cx="384048" cy="384048"/>
          </a:xfrm>
          <a:prstGeom prst="ellipse">
            <a:avLst/>
          </a:prstGeom>
          <a:solidFill>
            <a:srgbClr val="48C9FF"/>
          </a:solidFill>
          <a:ln>
            <a:solidFill>
              <a:srgbClr val="48C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87952" y="4425696"/>
            <a:ext cx="384048" cy="164592"/>
          </a:xfrm>
          <a:prstGeom prst="rect">
            <a:avLst/>
          </a:prstGeom>
          <a:noFill/>
        </p:spPr>
        <p:txBody>
          <a:bodyPr wrap="square" anchor="ctr">
            <a:spAutoFit/>
          </a:bodyPr>
          <a:lstStyle/>
          <a:p>
            <a:pPr algn="ctr"/>
            <a:r>
              <a:rPr sz="800" b="1">
                <a:solidFill>
                  <a:srgbClr val="070D12"/>
                </a:solidFill>
                <a:latin typeface="Aptos"/>
              </a:rPr>
              <a:t>03</a:t>
            </a:r>
          </a:p>
        </p:txBody>
      </p:sp>
      <p:sp>
        <p:nvSpPr>
          <p:cNvPr id="42" name="TextBox 41"/>
          <p:cNvSpPr txBox="1"/>
          <p:nvPr/>
        </p:nvSpPr>
        <p:spPr>
          <a:xfrm>
            <a:off x="4736592" y="4343400"/>
            <a:ext cx="3154680" cy="256032"/>
          </a:xfrm>
          <a:prstGeom prst="rect">
            <a:avLst/>
          </a:prstGeom>
          <a:noFill/>
        </p:spPr>
        <p:txBody>
          <a:bodyPr wrap="square" anchor="ctr">
            <a:spAutoFit/>
          </a:bodyPr>
          <a:lstStyle/>
          <a:p>
            <a:pPr algn="l"/>
            <a:r>
              <a:rPr sz="1050" b="1">
                <a:solidFill>
                  <a:srgbClr val="EFF7F5"/>
                </a:solidFill>
                <a:latin typeface="Aptos"/>
              </a:rPr>
              <a:t>RESCHEDULE EV CHARGING</a:t>
            </a:r>
          </a:p>
        </p:txBody>
      </p:sp>
      <p:sp>
        <p:nvSpPr>
          <p:cNvPr id="43" name="TextBox 42"/>
          <p:cNvSpPr txBox="1"/>
          <p:nvPr/>
        </p:nvSpPr>
        <p:spPr>
          <a:xfrm>
            <a:off x="7973568" y="4343400"/>
            <a:ext cx="960120" cy="256032"/>
          </a:xfrm>
          <a:prstGeom prst="rect">
            <a:avLst/>
          </a:prstGeom>
          <a:noFill/>
        </p:spPr>
        <p:txBody>
          <a:bodyPr wrap="square" anchor="ctr">
            <a:spAutoFit/>
          </a:bodyPr>
          <a:lstStyle/>
          <a:p>
            <a:pPr algn="r"/>
            <a:r>
              <a:rPr sz="1200" b="1">
                <a:solidFill>
                  <a:srgbClr val="48C9FF"/>
                </a:solidFill>
                <a:latin typeface="Aptos"/>
              </a:rPr>
              <a:t>70 MW</a:t>
            </a:r>
          </a:p>
        </p:txBody>
      </p:sp>
      <p:sp>
        <p:nvSpPr>
          <p:cNvPr id="44" name="TextBox 43"/>
          <p:cNvSpPr txBox="1"/>
          <p:nvPr/>
        </p:nvSpPr>
        <p:spPr>
          <a:xfrm>
            <a:off x="4736592" y="4645152"/>
            <a:ext cx="6080760" cy="228600"/>
          </a:xfrm>
          <a:prstGeom prst="rect">
            <a:avLst/>
          </a:prstGeom>
          <a:noFill/>
        </p:spPr>
        <p:txBody>
          <a:bodyPr wrap="square" anchor="ctr">
            <a:spAutoFit/>
          </a:bodyPr>
          <a:lstStyle/>
          <a:p>
            <a:pPr algn="l"/>
            <a:r>
              <a:rPr sz="880" b="0">
                <a:solidFill>
                  <a:srgbClr val="97AEAD"/>
                </a:solidFill>
                <a:latin typeface="Aptos"/>
              </a:rPr>
              <a:t>Stagger fleet charging to match availability.</a:t>
            </a:r>
          </a:p>
        </p:txBody>
      </p:sp>
      <p:sp>
        <p:nvSpPr>
          <p:cNvPr id="45" name="TextBox 44"/>
          <p:cNvSpPr txBox="1"/>
          <p:nvPr/>
        </p:nvSpPr>
        <p:spPr>
          <a:xfrm>
            <a:off x="4187952" y="5230368"/>
            <a:ext cx="1463040" cy="320040"/>
          </a:xfrm>
          <a:prstGeom prst="rect">
            <a:avLst/>
          </a:prstGeom>
          <a:noFill/>
        </p:spPr>
        <p:txBody>
          <a:bodyPr wrap="square" anchor="ctr">
            <a:spAutoFit/>
          </a:bodyPr>
          <a:lstStyle/>
          <a:p>
            <a:pPr algn="l"/>
            <a:r>
              <a:rPr sz="2000" b="1">
                <a:solidFill>
                  <a:srgbClr val="70E777"/>
                </a:solidFill>
                <a:latin typeface="Aptos"/>
              </a:rPr>
              <a:t>300 MW</a:t>
            </a:r>
          </a:p>
        </p:txBody>
      </p:sp>
      <p:sp>
        <p:nvSpPr>
          <p:cNvPr id="46" name="TextBox 45"/>
          <p:cNvSpPr txBox="1"/>
          <p:nvPr/>
        </p:nvSpPr>
        <p:spPr>
          <a:xfrm>
            <a:off x="5532120" y="5257800"/>
            <a:ext cx="2194560" cy="228600"/>
          </a:xfrm>
          <a:prstGeom prst="rect">
            <a:avLst/>
          </a:prstGeom>
          <a:noFill/>
        </p:spPr>
        <p:txBody>
          <a:bodyPr wrap="square" anchor="ctr">
            <a:spAutoFit/>
          </a:bodyPr>
          <a:lstStyle/>
          <a:p>
            <a:pPr algn="l"/>
            <a:r>
              <a:rPr sz="950" b="0">
                <a:solidFill>
                  <a:srgbClr val="97AEAD"/>
                </a:solidFill>
                <a:latin typeface="Aptos"/>
              </a:rPr>
              <a:t>clean energy absorbed</a:t>
            </a:r>
          </a:p>
        </p:txBody>
      </p:sp>
      <p:sp>
        <p:nvSpPr>
          <p:cNvPr id="47" name="TextBox 46"/>
          <p:cNvSpPr txBox="1"/>
          <p:nvPr/>
        </p:nvSpPr>
        <p:spPr>
          <a:xfrm>
            <a:off x="8549640" y="5230368"/>
            <a:ext cx="1463040" cy="320040"/>
          </a:xfrm>
          <a:prstGeom prst="rect">
            <a:avLst/>
          </a:prstGeom>
          <a:noFill/>
        </p:spPr>
        <p:txBody>
          <a:bodyPr wrap="square" anchor="ctr">
            <a:spAutoFit/>
          </a:bodyPr>
          <a:lstStyle/>
          <a:p>
            <a:pPr algn="l"/>
            <a:r>
              <a:rPr sz="2000" b="1">
                <a:solidFill>
                  <a:srgbClr val="22D3BE"/>
                </a:solidFill>
                <a:latin typeface="Aptos"/>
              </a:rPr>
              <a:t>120 MW</a:t>
            </a:r>
          </a:p>
        </p:txBody>
      </p:sp>
      <p:sp>
        <p:nvSpPr>
          <p:cNvPr id="48" name="TextBox 47"/>
          <p:cNvSpPr txBox="1"/>
          <p:nvPr/>
        </p:nvSpPr>
        <p:spPr>
          <a:xfrm>
            <a:off x="9875520" y="5257800"/>
            <a:ext cx="1417320" cy="228600"/>
          </a:xfrm>
          <a:prstGeom prst="rect">
            <a:avLst/>
          </a:prstGeom>
          <a:noFill/>
        </p:spPr>
        <p:txBody>
          <a:bodyPr wrap="square" anchor="ctr">
            <a:spAutoFit/>
          </a:bodyPr>
          <a:lstStyle/>
          <a:p>
            <a:pPr algn="l"/>
            <a:r>
              <a:rPr sz="950" b="0">
                <a:solidFill>
                  <a:srgbClr val="97AEAD"/>
                </a:solidFill>
                <a:latin typeface="Aptos"/>
              </a:rPr>
              <a:t>post-action curtailment</a:t>
            </a:r>
          </a:p>
        </p:txBody>
      </p:sp>
      <p:cxnSp>
        <p:nvCxnSpPr>
          <p:cNvPr id="49" name="Connector 48"/>
          <p:cNvCxnSpPr/>
          <p:nvPr/>
        </p:nvCxnSpPr>
        <p:spPr>
          <a:xfrm>
            <a:off x="594360" y="6510528"/>
            <a:ext cx="11000232" cy="0"/>
          </a:xfrm>
          <a:prstGeom prst="line">
            <a:avLst/>
          </a:prstGeom>
          <a:ln w="10160">
            <a:solidFill>
              <a:srgbClr val="263A3E"/>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12648" y="6565392"/>
            <a:ext cx="4114800" cy="164592"/>
          </a:xfrm>
          <a:prstGeom prst="rect">
            <a:avLst/>
          </a:prstGeom>
          <a:noFill/>
        </p:spPr>
        <p:txBody>
          <a:bodyPr wrap="square" anchor="ctr">
            <a:spAutoFit/>
          </a:bodyPr>
          <a:lstStyle/>
          <a:p>
            <a:pPr algn="l"/>
            <a:r>
              <a:rPr sz="800" b="1">
                <a:solidFill>
                  <a:srgbClr val="97AEAD"/>
                </a:solidFill>
                <a:latin typeface="Aptos"/>
              </a:rPr>
              <a:t>ENERGYNEX  •  GRIDOPT AI</a:t>
            </a:r>
          </a:p>
        </p:txBody>
      </p:sp>
      <p:sp>
        <p:nvSpPr>
          <p:cNvPr id="51" name="TextBox 50"/>
          <p:cNvSpPr txBox="1"/>
          <p:nvPr/>
        </p:nvSpPr>
        <p:spPr>
          <a:xfrm>
            <a:off x="7589520" y="6565392"/>
            <a:ext cx="4023360" cy="164592"/>
          </a:xfrm>
          <a:prstGeom prst="rect">
            <a:avLst/>
          </a:prstGeom>
          <a:noFill/>
        </p:spPr>
        <p:txBody>
          <a:bodyPr wrap="square" anchor="ctr">
            <a:spAutoFit/>
          </a:bodyPr>
          <a:lstStyle/>
          <a:p>
            <a:pPr algn="r"/>
            <a:r>
              <a:rPr sz="800" b="1">
                <a:solidFill>
                  <a:srgbClr val="97AEAD"/>
                </a:solidFill>
                <a:latin typeface="Aptos"/>
              </a:rPr>
              <a:t>IBM BOB AI INNOVATION HACKATHON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D12"/>
        </a:solidFill>
        <a:effectLst/>
      </p:bgPr>
    </p:bg>
    <p:spTree>
      <p:nvGrpSpPr>
        <p:cNvPr id="1" name=""/>
        <p:cNvGrpSpPr/>
        <p:nvPr/>
      </p:nvGrpSpPr>
      <p:grpSpPr/>
      <p:cxnSp>
        <p:nvCxnSpPr>
          <p:cNvPr id="2" name="Connector 1"/>
          <p:cNvCxnSpPr/>
          <p:nvPr/>
        </p:nvCxnSpPr>
        <p:spPr>
          <a:xfrm>
            <a:off x="59436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01168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42900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4632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26364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68096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09828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1560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0" y="54864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155448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256032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0" y="356616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0" y="457200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0" y="557784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274320"/>
            <a:ext cx="1097280" cy="256032"/>
          </a:xfrm>
          <a:prstGeom prst="rect">
            <a:avLst/>
          </a:prstGeom>
          <a:noFill/>
        </p:spPr>
        <p:txBody>
          <a:bodyPr wrap="square" anchor="ctr">
            <a:spAutoFit/>
          </a:bodyPr>
          <a:lstStyle/>
          <a:p>
            <a:pPr algn="l"/>
            <a:r>
              <a:rPr sz="1000" b="1">
                <a:solidFill>
                  <a:srgbClr val="22D3BE"/>
                </a:solidFill>
                <a:latin typeface="Aptos"/>
              </a:rPr>
              <a:t>09  /  10</a:t>
            </a:r>
          </a:p>
        </p:txBody>
      </p:sp>
      <p:sp>
        <p:nvSpPr>
          <p:cNvPr id="17" name="TextBox 16"/>
          <p:cNvSpPr txBox="1"/>
          <p:nvPr/>
        </p:nvSpPr>
        <p:spPr>
          <a:xfrm>
            <a:off x="1600200" y="265176"/>
            <a:ext cx="3657600" cy="274320"/>
          </a:xfrm>
          <a:prstGeom prst="rect">
            <a:avLst/>
          </a:prstGeom>
          <a:noFill/>
        </p:spPr>
        <p:txBody>
          <a:bodyPr wrap="square" anchor="ctr">
            <a:spAutoFit/>
          </a:bodyPr>
          <a:lstStyle/>
          <a:p>
            <a:pPr algn="l"/>
            <a:r>
              <a:rPr sz="1000" b="1">
                <a:solidFill>
                  <a:srgbClr val="97AEAD"/>
                </a:solidFill>
                <a:latin typeface="Aptos"/>
              </a:rPr>
              <a:t>MODULE 5 • ACT</a:t>
            </a:r>
          </a:p>
        </p:txBody>
      </p:sp>
      <p:sp>
        <p:nvSpPr>
          <p:cNvPr id="18" name="TextBox 17"/>
          <p:cNvSpPr txBox="1"/>
          <p:nvPr/>
        </p:nvSpPr>
        <p:spPr>
          <a:xfrm>
            <a:off x="594360" y="713232"/>
            <a:ext cx="10972800" cy="566928"/>
          </a:xfrm>
          <a:prstGeom prst="rect">
            <a:avLst/>
          </a:prstGeom>
          <a:noFill/>
        </p:spPr>
        <p:txBody>
          <a:bodyPr wrap="square" anchor="ctr">
            <a:spAutoFit/>
          </a:bodyPr>
          <a:lstStyle/>
          <a:p>
            <a:pPr algn="l"/>
            <a:r>
              <a:rPr sz="2800" b="1">
                <a:solidFill>
                  <a:srgbClr val="EFF7F5"/>
                </a:solidFill>
                <a:latin typeface="Aptos"/>
              </a:rPr>
              <a:t>IBM Bob AI Copilot Turns Data Into Conversation</a:t>
            </a:r>
          </a:p>
        </p:txBody>
      </p:sp>
      <p:sp>
        <p:nvSpPr>
          <p:cNvPr id="19" name="TextBox 18"/>
          <p:cNvSpPr txBox="1"/>
          <p:nvPr/>
        </p:nvSpPr>
        <p:spPr>
          <a:xfrm>
            <a:off x="612648" y="1298448"/>
            <a:ext cx="10789920" cy="365760"/>
          </a:xfrm>
          <a:prstGeom prst="rect">
            <a:avLst/>
          </a:prstGeom>
          <a:noFill/>
        </p:spPr>
        <p:txBody>
          <a:bodyPr wrap="square" anchor="ctr">
            <a:spAutoFit/>
          </a:bodyPr>
          <a:lstStyle/>
          <a:p>
            <a:pPr algn="l"/>
            <a:r>
              <a:rPr sz="1250" b="0">
                <a:solidFill>
                  <a:srgbClr val="97AEAD"/>
                </a:solidFill>
                <a:latin typeface="Aptos"/>
              </a:rPr>
              <a:t>Ask the grid a question. Get evidence, explanation and an action plan.</a:t>
            </a:r>
          </a:p>
        </p:txBody>
      </p:sp>
      <p:sp>
        <p:nvSpPr>
          <p:cNvPr id="20" name="Rounded Rectangle 19"/>
          <p:cNvSpPr/>
          <p:nvPr/>
        </p:nvSpPr>
        <p:spPr>
          <a:xfrm>
            <a:off x="658368" y="1828800"/>
            <a:ext cx="6537960" cy="3977639"/>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2103120"/>
            <a:ext cx="2148840" cy="310896"/>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2112263"/>
            <a:ext cx="2148840" cy="256032"/>
          </a:xfrm>
          <a:prstGeom prst="rect">
            <a:avLst/>
          </a:prstGeom>
          <a:noFill/>
        </p:spPr>
        <p:txBody>
          <a:bodyPr wrap="square" anchor="ctr">
            <a:spAutoFit/>
          </a:bodyPr>
          <a:lstStyle/>
          <a:p>
            <a:pPr algn="ctr"/>
            <a:r>
              <a:rPr sz="900" b="1">
                <a:solidFill>
                  <a:srgbClr val="22D3BE"/>
                </a:solidFill>
                <a:latin typeface="Aptos"/>
              </a:rPr>
              <a:t>● IBM BOB AI COPILOT</a:t>
            </a:r>
          </a:p>
        </p:txBody>
      </p:sp>
      <p:sp>
        <p:nvSpPr>
          <p:cNvPr id="23" name="Rounded Rectangle 22"/>
          <p:cNvSpPr/>
          <p:nvPr/>
        </p:nvSpPr>
        <p:spPr>
          <a:xfrm>
            <a:off x="914400" y="2697480"/>
            <a:ext cx="3520440" cy="411480"/>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78992" y="2770632"/>
            <a:ext cx="3200400" cy="256032"/>
          </a:xfrm>
          <a:prstGeom prst="rect">
            <a:avLst/>
          </a:prstGeom>
          <a:noFill/>
        </p:spPr>
        <p:txBody>
          <a:bodyPr wrap="square" anchor="ctr">
            <a:spAutoFit/>
          </a:bodyPr>
          <a:lstStyle/>
          <a:p>
            <a:pPr algn="l"/>
            <a:r>
              <a:rPr sz="980" b="0">
                <a:solidFill>
                  <a:srgbClr val="EFF7F5"/>
                </a:solidFill>
                <a:latin typeface="Aptos"/>
              </a:rPr>
              <a:t>Why is today's demand high?</a:t>
            </a:r>
          </a:p>
        </p:txBody>
      </p:sp>
      <p:sp>
        <p:nvSpPr>
          <p:cNvPr id="25" name="Rounded Rectangle 24"/>
          <p:cNvSpPr/>
          <p:nvPr/>
        </p:nvSpPr>
        <p:spPr>
          <a:xfrm>
            <a:off x="914400" y="3300984"/>
            <a:ext cx="3520440" cy="411480"/>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78992" y="3374136"/>
            <a:ext cx="3200400" cy="256032"/>
          </a:xfrm>
          <a:prstGeom prst="rect">
            <a:avLst/>
          </a:prstGeom>
          <a:noFill/>
        </p:spPr>
        <p:txBody>
          <a:bodyPr wrap="square" anchor="ctr">
            <a:spAutoFit/>
          </a:bodyPr>
          <a:lstStyle/>
          <a:p>
            <a:pPr algn="l"/>
            <a:r>
              <a:rPr sz="980" b="0">
                <a:solidFill>
                  <a:srgbClr val="EFF7F5"/>
                </a:solidFill>
                <a:latin typeface="Aptos"/>
              </a:rPr>
              <a:t>Why is Solar Farm A underperforming?</a:t>
            </a:r>
          </a:p>
        </p:txBody>
      </p:sp>
      <p:sp>
        <p:nvSpPr>
          <p:cNvPr id="27" name="Rounded Rectangle 26"/>
          <p:cNvSpPr/>
          <p:nvPr/>
        </p:nvSpPr>
        <p:spPr>
          <a:xfrm>
            <a:off x="914400" y="3904488"/>
            <a:ext cx="3520440" cy="411480"/>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992" y="3977639"/>
            <a:ext cx="3200400" cy="256032"/>
          </a:xfrm>
          <a:prstGeom prst="rect">
            <a:avLst/>
          </a:prstGeom>
          <a:noFill/>
        </p:spPr>
        <p:txBody>
          <a:bodyPr wrap="square" anchor="ctr">
            <a:spAutoFit/>
          </a:bodyPr>
          <a:lstStyle/>
          <a:p>
            <a:pPr algn="l"/>
            <a:r>
              <a:rPr sz="980" b="0">
                <a:solidFill>
                  <a:srgbClr val="EFF7F5"/>
                </a:solidFill>
                <a:latin typeface="Aptos"/>
              </a:rPr>
              <a:t>How can I reduce curtailment?</a:t>
            </a:r>
          </a:p>
        </p:txBody>
      </p:sp>
      <p:sp>
        <p:nvSpPr>
          <p:cNvPr id="29" name="Rounded Rectangle 28"/>
          <p:cNvSpPr/>
          <p:nvPr/>
        </p:nvSpPr>
        <p:spPr>
          <a:xfrm>
            <a:off x="4645152" y="2743200"/>
            <a:ext cx="2148840" cy="2011680"/>
          </a:xfrm>
          <a:prstGeom prst="roundRect">
            <a:avLst>
              <a:gd name="adj" fmla="val 12000"/>
            </a:avLst>
          </a:prstGeom>
          <a:solidFill>
            <a:srgbClr val="0D2626"/>
          </a:solidFill>
          <a:ln>
            <a:solidFill>
              <a:srgbClr val="1C4E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6320" y="2926080"/>
            <a:ext cx="914400" cy="228600"/>
          </a:xfrm>
          <a:prstGeom prst="rect">
            <a:avLst/>
          </a:prstGeom>
          <a:noFill/>
        </p:spPr>
        <p:txBody>
          <a:bodyPr wrap="square" anchor="ctr">
            <a:spAutoFit/>
          </a:bodyPr>
          <a:lstStyle/>
          <a:p>
            <a:pPr algn="l"/>
            <a:r>
              <a:rPr sz="900" b="1">
                <a:solidFill>
                  <a:srgbClr val="22D3BE"/>
                </a:solidFill>
                <a:latin typeface="Aptos"/>
              </a:rPr>
              <a:t>ANSWER</a:t>
            </a:r>
          </a:p>
        </p:txBody>
      </p:sp>
      <p:sp>
        <p:nvSpPr>
          <p:cNvPr id="31" name="TextBox 30"/>
          <p:cNvSpPr txBox="1"/>
          <p:nvPr/>
        </p:nvSpPr>
        <p:spPr>
          <a:xfrm>
            <a:off x="4846320" y="3273552"/>
            <a:ext cx="1664208" cy="658368"/>
          </a:xfrm>
          <a:prstGeom prst="rect">
            <a:avLst/>
          </a:prstGeom>
          <a:noFill/>
        </p:spPr>
        <p:txBody>
          <a:bodyPr wrap="square" anchor="ctr">
            <a:spAutoFit/>
          </a:bodyPr>
          <a:lstStyle/>
          <a:p>
            <a:pPr algn="l"/>
            <a:r>
              <a:rPr sz="1000" b="1">
                <a:solidFill>
                  <a:srgbClr val="EFF7F5"/>
                </a:solidFill>
                <a:latin typeface="Aptos"/>
              </a:rPr>
              <a:t>Peak risk is driven by the 18:00 load window.</a:t>
            </a:r>
          </a:p>
        </p:txBody>
      </p:sp>
      <p:sp>
        <p:nvSpPr>
          <p:cNvPr id="32" name="TextBox 31"/>
          <p:cNvSpPr txBox="1"/>
          <p:nvPr/>
        </p:nvSpPr>
        <p:spPr>
          <a:xfrm>
            <a:off x="4846320" y="4096512"/>
            <a:ext cx="1645920" cy="438912"/>
          </a:xfrm>
          <a:prstGeom prst="rect">
            <a:avLst/>
          </a:prstGeom>
          <a:noFill/>
        </p:spPr>
        <p:txBody>
          <a:bodyPr wrap="square" anchor="ctr">
            <a:spAutoFit/>
          </a:bodyPr>
          <a:lstStyle/>
          <a:p>
            <a:pPr algn="l"/>
            <a:r>
              <a:rPr sz="850" b="0">
                <a:solidFill>
                  <a:srgbClr val="97AEAD"/>
                </a:solidFill>
                <a:latin typeface="Aptos"/>
              </a:rPr>
              <a:t>Evidence → forecast curve + baseline comparison.</a:t>
            </a:r>
          </a:p>
        </p:txBody>
      </p:sp>
      <p:sp>
        <p:nvSpPr>
          <p:cNvPr id="33" name="Rounded Rectangle 32"/>
          <p:cNvSpPr/>
          <p:nvPr/>
        </p:nvSpPr>
        <p:spPr>
          <a:xfrm>
            <a:off x="7479792" y="1828800"/>
            <a:ext cx="4096512" cy="3977639"/>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54112" y="2121408"/>
            <a:ext cx="3108960" cy="274320"/>
          </a:xfrm>
          <a:prstGeom prst="rect">
            <a:avLst/>
          </a:prstGeom>
          <a:noFill/>
        </p:spPr>
        <p:txBody>
          <a:bodyPr wrap="square" anchor="ctr">
            <a:spAutoFit/>
          </a:bodyPr>
          <a:lstStyle/>
          <a:p>
            <a:pPr algn="l"/>
            <a:r>
              <a:rPr sz="1100" b="1">
                <a:solidFill>
                  <a:srgbClr val="22D3BE"/>
                </a:solidFill>
                <a:latin typeface="Aptos"/>
              </a:rPr>
              <a:t>EXECUTIVE INTELLIGENCE</a:t>
            </a:r>
          </a:p>
        </p:txBody>
      </p:sp>
      <p:sp>
        <p:nvSpPr>
          <p:cNvPr id="35" name="Rounded Rectangle 34"/>
          <p:cNvSpPr/>
          <p:nvPr/>
        </p:nvSpPr>
        <p:spPr>
          <a:xfrm>
            <a:off x="7754112" y="2651760"/>
            <a:ext cx="1572768" cy="1051560"/>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18704" y="2761488"/>
            <a:ext cx="1243584" cy="411480"/>
          </a:xfrm>
          <a:prstGeom prst="rect">
            <a:avLst/>
          </a:prstGeom>
          <a:noFill/>
        </p:spPr>
        <p:txBody>
          <a:bodyPr wrap="square" anchor="ctr">
            <a:spAutoFit/>
          </a:bodyPr>
          <a:lstStyle/>
          <a:p>
            <a:pPr algn="l"/>
            <a:r>
              <a:rPr sz="2500" b="1">
                <a:solidFill>
                  <a:srgbClr val="FFBE50"/>
                </a:solidFill>
                <a:latin typeface="Aptos"/>
              </a:rPr>
              <a:t>42.1 min</a:t>
            </a:r>
          </a:p>
        </p:txBody>
      </p:sp>
      <p:sp>
        <p:nvSpPr>
          <p:cNvPr id="37" name="TextBox 36"/>
          <p:cNvSpPr txBox="1"/>
          <p:nvPr/>
        </p:nvSpPr>
        <p:spPr>
          <a:xfrm>
            <a:off x="7918704" y="3273552"/>
            <a:ext cx="1243584" cy="228600"/>
          </a:xfrm>
          <a:prstGeom prst="rect">
            <a:avLst/>
          </a:prstGeom>
          <a:noFill/>
        </p:spPr>
        <p:txBody>
          <a:bodyPr wrap="square" anchor="ctr">
            <a:spAutoFit/>
          </a:bodyPr>
          <a:lstStyle/>
          <a:p>
            <a:pPr algn="l"/>
            <a:r>
              <a:rPr sz="950" b="1">
                <a:solidFill>
                  <a:srgbClr val="97AEAD"/>
                </a:solidFill>
                <a:latin typeface="Aptos"/>
              </a:rPr>
              <a:t>7-day SAIDI</a:t>
            </a:r>
          </a:p>
        </p:txBody>
      </p:sp>
      <p:sp>
        <p:nvSpPr>
          <p:cNvPr id="38" name="Rounded Rectangle 37"/>
          <p:cNvSpPr/>
          <p:nvPr/>
        </p:nvSpPr>
        <p:spPr>
          <a:xfrm>
            <a:off x="9454896" y="2651760"/>
            <a:ext cx="1572768" cy="1051560"/>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19488" y="2761488"/>
            <a:ext cx="1243584" cy="411480"/>
          </a:xfrm>
          <a:prstGeom prst="rect">
            <a:avLst/>
          </a:prstGeom>
          <a:noFill/>
        </p:spPr>
        <p:txBody>
          <a:bodyPr wrap="square" anchor="ctr">
            <a:spAutoFit/>
          </a:bodyPr>
          <a:lstStyle/>
          <a:p>
            <a:pPr algn="l"/>
            <a:r>
              <a:rPr sz="2500" b="1">
                <a:solidFill>
                  <a:srgbClr val="48C9FF"/>
                </a:solidFill>
                <a:latin typeface="Aptos"/>
              </a:rPr>
              <a:t>0.68</a:t>
            </a:r>
          </a:p>
        </p:txBody>
      </p:sp>
      <p:sp>
        <p:nvSpPr>
          <p:cNvPr id="40" name="TextBox 39"/>
          <p:cNvSpPr txBox="1"/>
          <p:nvPr/>
        </p:nvSpPr>
        <p:spPr>
          <a:xfrm>
            <a:off x="9619488" y="3273552"/>
            <a:ext cx="1243584" cy="228600"/>
          </a:xfrm>
          <a:prstGeom prst="rect">
            <a:avLst/>
          </a:prstGeom>
          <a:noFill/>
        </p:spPr>
        <p:txBody>
          <a:bodyPr wrap="square" anchor="ctr">
            <a:spAutoFit/>
          </a:bodyPr>
          <a:lstStyle/>
          <a:p>
            <a:pPr algn="l"/>
            <a:r>
              <a:rPr sz="950" b="1">
                <a:solidFill>
                  <a:srgbClr val="97AEAD"/>
                </a:solidFill>
                <a:latin typeface="Aptos"/>
              </a:rPr>
              <a:t>7-day SAIFI</a:t>
            </a:r>
          </a:p>
        </p:txBody>
      </p:sp>
      <p:sp>
        <p:nvSpPr>
          <p:cNvPr id="41" name="TextBox 40"/>
          <p:cNvSpPr txBox="1"/>
          <p:nvPr/>
        </p:nvSpPr>
        <p:spPr>
          <a:xfrm>
            <a:off x="7754112" y="3977639"/>
            <a:ext cx="3017520" cy="274320"/>
          </a:xfrm>
          <a:prstGeom prst="rect">
            <a:avLst/>
          </a:prstGeom>
          <a:noFill/>
        </p:spPr>
        <p:txBody>
          <a:bodyPr wrap="square" anchor="ctr">
            <a:spAutoFit/>
          </a:bodyPr>
          <a:lstStyle/>
          <a:p>
            <a:pPr algn="l"/>
            <a:r>
              <a:rPr sz="1400" b="1">
                <a:solidFill>
                  <a:srgbClr val="EFF7F5"/>
                </a:solidFill>
                <a:latin typeface="Aptos"/>
              </a:rPr>
              <a:t>Weekly compliance brief</a:t>
            </a:r>
          </a:p>
        </p:txBody>
      </p:sp>
      <p:sp>
        <p:nvSpPr>
          <p:cNvPr id="42" name="TextBox 41"/>
          <p:cNvSpPr txBox="1"/>
          <p:nvPr/>
        </p:nvSpPr>
        <p:spPr>
          <a:xfrm>
            <a:off x="7754112" y="4407408"/>
            <a:ext cx="2971800" cy="1005840"/>
          </a:xfrm>
          <a:prstGeom prst="rect">
            <a:avLst/>
          </a:prstGeom>
          <a:noFill/>
        </p:spPr>
        <p:txBody>
          <a:bodyPr wrap="square" anchor="ctr">
            <a:spAutoFit/>
          </a:bodyPr>
          <a:lstStyle/>
          <a:p>
            <a:pPr algn="l"/>
            <a:r>
              <a:rPr sz="1050" b="0">
                <a:solidFill>
                  <a:srgbClr val="97AEAD"/>
                </a:solidFill>
                <a:latin typeface="Aptos"/>
              </a:rPr>
              <a:t>• Grid stress summary
• Renewable asset exceptions
• Curtailment actions
• Downloadable .md brief</a:t>
            </a:r>
          </a:p>
        </p:txBody>
      </p:sp>
      <p:sp>
        <p:nvSpPr>
          <p:cNvPr id="43" name="Rounded Rectangle 42"/>
          <p:cNvSpPr/>
          <p:nvPr/>
        </p:nvSpPr>
        <p:spPr>
          <a:xfrm>
            <a:off x="7754112" y="5285232"/>
            <a:ext cx="3017520" cy="310896"/>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54112" y="5294376"/>
            <a:ext cx="3017520" cy="256032"/>
          </a:xfrm>
          <a:prstGeom prst="rect">
            <a:avLst/>
          </a:prstGeom>
          <a:noFill/>
        </p:spPr>
        <p:txBody>
          <a:bodyPr wrap="square" anchor="ctr">
            <a:spAutoFit/>
          </a:bodyPr>
          <a:lstStyle/>
          <a:p>
            <a:pPr algn="ctr"/>
            <a:r>
              <a:rPr sz="900" b="1">
                <a:solidFill>
                  <a:srgbClr val="70E777"/>
                </a:solidFill>
                <a:latin typeface="Aptos"/>
              </a:rPr>
              <a:t>DATA-BACKED • ACTIONABLE • TRACEABLE</a:t>
            </a:r>
          </a:p>
        </p:txBody>
      </p:sp>
      <p:cxnSp>
        <p:nvCxnSpPr>
          <p:cNvPr id="45" name="Connector 44"/>
          <p:cNvCxnSpPr/>
          <p:nvPr/>
        </p:nvCxnSpPr>
        <p:spPr>
          <a:xfrm>
            <a:off x="594360" y="6510528"/>
            <a:ext cx="11000232" cy="0"/>
          </a:xfrm>
          <a:prstGeom prst="line">
            <a:avLst/>
          </a:prstGeom>
          <a:ln w="10160">
            <a:solidFill>
              <a:srgbClr val="263A3E"/>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12648" y="6565392"/>
            <a:ext cx="4114800" cy="164592"/>
          </a:xfrm>
          <a:prstGeom prst="rect">
            <a:avLst/>
          </a:prstGeom>
          <a:noFill/>
        </p:spPr>
        <p:txBody>
          <a:bodyPr wrap="square" anchor="ctr">
            <a:spAutoFit/>
          </a:bodyPr>
          <a:lstStyle/>
          <a:p>
            <a:pPr algn="l"/>
            <a:r>
              <a:rPr sz="800" b="1">
                <a:solidFill>
                  <a:srgbClr val="97AEAD"/>
                </a:solidFill>
                <a:latin typeface="Aptos"/>
              </a:rPr>
              <a:t>ENERGYNEX  •  GRIDOPT AI</a:t>
            </a:r>
          </a:p>
        </p:txBody>
      </p:sp>
      <p:sp>
        <p:nvSpPr>
          <p:cNvPr id="47" name="TextBox 46"/>
          <p:cNvSpPr txBox="1"/>
          <p:nvPr/>
        </p:nvSpPr>
        <p:spPr>
          <a:xfrm>
            <a:off x="7589520" y="6565392"/>
            <a:ext cx="4023360" cy="164592"/>
          </a:xfrm>
          <a:prstGeom prst="rect">
            <a:avLst/>
          </a:prstGeom>
          <a:noFill/>
        </p:spPr>
        <p:txBody>
          <a:bodyPr wrap="square" anchor="ctr">
            <a:spAutoFit/>
          </a:bodyPr>
          <a:lstStyle/>
          <a:p>
            <a:pPr algn="r"/>
            <a:r>
              <a:rPr sz="800" b="1">
                <a:solidFill>
                  <a:srgbClr val="97AEAD"/>
                </a:solidFill>
                <a:latin typeface="Aptos"/>
              </a:rPr>
              <a:t>IBM BOB AI INNOVATION HACKATHON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D12"/>
        </a:solidFill>
        <a:effectLst/>
      </p:bgPr>
    </p:bg>
    <p:spTree>
      <p:nvGrpSpPr>
        <p:cNvPr id="1" name=""/>
        <p:cNvGrpSpPr/>
        <p:nvPr/>
      </p:nvGrpSpPr>
      <p:grpSpPr/>
      <p:cxnSp>
        <p:nvCxnSpPr>
          <p:cNvPr id="2" name="Connector 1"/>
          <p:cNvCxnSpPr/>
          <p:nvPr/>
        </p:nvCxnSpPr>
        <p:spPr>
          <a:xfrm>
            <a:off x="59436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01168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42900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4632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26364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68096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09828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15600" y="0"/>
            <a:ext cx="0" cy="685800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0" y="54864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155448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256032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0" y="356616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0" y="457200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0" y="5577840"/>
            <a:ext cx="12191695" cy="0"/>
          </a:xfrm>
          <a:prstGeom prst="line">
            <a:avLst/>
          </a:prstGeom>
          <a:ln w="5080">
            <a:solidFill>
              <a:srgbClr val="0C1B1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274320"/>
            <a:ext cx="1097280" cy="256032"/>
          </a:xfrm>
          <a:prstGeom prst="rect">
            <a:avLst/>
          </a:prstGeom>
          <a:noFill/>
        </p:spPr>
        <p:txBody>
          <a:bodyPr wrap="square" anchor="ctr">
            <a:spAutoFit/>
          </a:bodyPr>
          <a:lstStyle/>
          <a:p>
            <a:pPr algn="l"/>
            <a:r>
              <a:rPr sz="1000" b="1">
                <a:solidFill>
                  <a:srgbClr val="22D3BE"/>
                </a:solidFill>
                <a:latin typeface="Aptos"/>
              </a:rPr>
              <a:t>10  /  10</a:t>
            </a:r>
          </a:p>
        </p:txBody>
      </p:sp>
      <p:sp>
        <p:nvSpPr>
          <p:cNvPr id="17" name="TextBox 16"/>
          <p:cNvSpPr txBox="1"/>
          <p:nvPr/>
        </p:nvSpPr>
        <p:spPr>
          <a:xfrm>
            <a:off x="1600200" y="265176"/>
            <a:ext cx="3657600" cy="274320"/>
          </a:xfrm>
          <a:prstGeom prst="rect">
            <a:avLst/>
          </a:prstGeom>
          <a:noFill/>
        </p:spPr>
        <p:txBody>
          <a:bodyPr wrap="square" anchor="ctr">
            <a:spAutoFit/>
          </a:bodyPr>
          <a:lstStyle/>
          <a:p>
            <a:pPr algn="l"/>
            <a:r>
              <a:rPr sz="1000" b="1">
                <a:solidFill>
                  <a:srgbClr val="97AEAD"/>
                </a:solidFill>
                <a:latin typeface="Aptos"/>
              </a:rPr>
              <a:t>THE BUILD</a:t>
            </a:r>
          </a:p>
        </p:txBody>
      </p:sp>
      <p:sp>
        <p:nvSpPr>
          <p:cNvPr id="18" name="TextBox 17"/>
          <p:cNvSpPr txBox="1"/>
          <p:nvPr/>
        </p:nvSpPr>
        <p:spPr>
          <a:xfrm>
            <a:off x="594360" y="713232"/>
            <a:ext cx="10972800" cy="566928"/>
          </a:xfrm>
          <a:prstGeom prst="rect">
            <a:avLst/>
          </a:prstGeom>
          <a:noFill/>
        </p:spPr>
        <p:txBody>
          <a:bodyPr wrap="square" anchor="ctr">
            <a:spAutoFit/>
          </a:bodyPr>
          <a:lstStyle/>
          <a:p>
            <a:pPr algn="l"/>
            <a:r>
              <a:rPr sz="2800" b="1">
                <a:solidFill>
                  <a:srgbClr val="EFF7F5"/>
                </a:solidFill>
                <a:latin typeface="Aptos"/>
              </a:rPr>
              <a:t>Production-Quality Implementation</a:t>
            </a:r>
          </a:p>
        </p:txBody>
      </p:sp>
      <p:sp>
        <p:nvSpPr>
          <p:cNvPr id="19" name="TextBox 18"/>
          <p:cNvSpPr txBox="1"/>
          <p:nvPr/>
        </p:nvSpPr>
        <p:spPr>
          <a:xfrm>
            <a:off x="612648" y="1298448"/>
            <a:ext cx="10789920" cy="365760"/>
          </a:xfrm>
          <a:prstGeom prst="rect">
            <a:avLst/>
          </a:prstGeom>
          <a:noFill/>
        </p:spPr>
        <p:txBody>
          <a:bodyPr wrap="square" anchor="ctr">
            <a:spAutoFit/>
          </a:bodyPr>
          <a:lstStyle/>
          <a:p>
            <a:pPr algn="l"/>
            <a:r>
              <a:rPr sz="1250" b="0">
                <a:solidFill>
                  <a:srgbClr val="97AEAD"/>
                </a:solidFill>
                <a:latin typeface="Aptos"/>
              </a:rPr>
              <a:t>A hackathon-ready stack designed to prove the full decision-support workflow.</a:t>
            </a:r>
          </a:p>
        </p:txBody>
      </p:sp>
      <p:sp>
        <p:nvSpPr>
          <p:cNvPr id="20" name="Rounded Rectangle 19"/>
          <p:cNvSpPr/>
          <p:nvPr/>
        </p:nvSpPr>
        <p:spPr>
          <a:xfrm>
            <a:off x="658368" y="1828800"/>
            <a:ext cx="2514600" cy="2606040"/>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59536" y="2084831"/>
            <a:ext cx="2103120" cy="310896"/>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9536" y="2093975"/>
            <a:ext cx="2103120" cy="256032"/>
          </a:xfrm>
          <a:prstGeom prst="rect">
            <a:avLst/>
          </a:prstGeom>
          <a:noFill/>
        </p:spPr>
        <p:txBody>
          <a:bodyPr wrap="square" anchor="ctr">
            <a:spAutoFit/>
          </a:bodyPr>
          <a:lstStyle/>
          <a:p>
            <a:pPr algn="ctr"/>
            <a:r>
              <a:rPr sz="900" b="1">
                <a:solidFill>
                  <a:srgbClr val="22D3BE"/>
                </a:solidFill>
                <a:latin typeface="Aptos"/>
              </a:rPr>
              <a:t>FRONTEND</a:t>
            </a:r>
          </a:p>
        </p:txBody>
      </p:sp>
      <p:sp>
        <p:nvSpPr>
          <p:cNvPr id="23" name="TextBox 22"/>
          <p:cNvSpPr txBox="1"/>
          <p:nvPr/>
        </p:nvSpPr>
        <p:spPr>
          <a:xfrm>
            <a:off x="905256" y="2788920"/>
            <a:ext cx="2011680" cy="1325880"/>
          </a:xfrm>
          <a:prstGeom prst="rect">
            <a:avLst/>
          </a:prstGeom>
          <a:noFill/>
        </p:spPr>
        <p:txBody>
          <a:bodyPr wrap="square" anchor="ctr">
            <a:spAutoFit/>
          </a:bodyPr>
          <a:lstStyle/>
          <a:p>
            <a:pPr algn="ctr"/>
            <a:r>
              <a:rPr sz="1200" b="1">
                <a:solidFill>
                  <a:srgbClr val="EFF7F5"/>
                </a:solidFill>
                <a:latin typeface="Aptos"/>
              </a:rPr>
              <a:t>React 18
Vite 5
TypeScript
Tailwind CSS
Leaflet • Recharts</a:t>
            </a:r>
          </a:p>
        </p:txBody>
      </p:sp>
      <p:sp>
        <p:nvSpPr>
          <p:cNvPr id="24" name="Rounded Rectangle 23"/>
          <p:cNvSpPr/>
          <p:nvPr/>
        </p:nvSpPr>
        <p:spPr>
          <a:xfrm>
            <a:off x="3447287" y="1828800"/>
            <a:ext cx="2514600" cy="2606040"/>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648456" y="2084831"/>
            <a:ext cx="2103120" cy="310896"/>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48456" y="2093975"/>
            <a:ext cx="2103120" cy="256032"/>
          </a:xfrm>
          <a:prstGeom prst="rect">
            <a:avLst/>
          </a:prstGeom>
          <a:noFill/>
        </p:spPr>
        <p:txBody>
          <a:bodyPr wrap="square" anchor="ctr">
            <a:spAutoFit/>
          </a:bodyPr>
          <a:lstStyle/>
          <a:p>
            <a:pPr algn="ctr"/>
            <a:r>
              <a:rPr sz="900" b="1">
                <a:solidFill>
                  <a:srgbClr val="48C9FF"/>
                </a:solidFill>
                <a:latin typeface="Aptos"/>
              </a:rPr>
              <a:t>BACKEND</a:t>
            </a:r>
          </a:p>
        </p:txBody>
      </p:sp>
      <p:sp>
        <p:nvSpPr>
          <p:cNvPr id="27" name="TextBox 26"/>
          <p:cNvSpPr txBox="1"/>
          <p:nvPr/>
        </p:nvSpPr>
        <p:spPr>
          <a:xfrm>
            <a:off x="3694175" y="2788920"/>
            <a:ext cx="2011680" cy="1325880"/>
          </a:xfrm>
          <a:prstGeom prst="rect">
            <a:avLst/>
          </a:prstGeom>
          <a:noFill/>
        </p:spPr>
        <p:txBody>
          <a:bodyPr wrap="square" anchor="ctr">
            <a:spAutoFit/>
          </a:bodyPr>
          <a:lstStyle/>
          <a:p>
            <a:pPr algn="ctr"/>
            <a:r>
              <a:rPr sz="1200" b="1">
                <a:solidFill>
                  <a:srgbClr val="EFF7F5"/>
                </a:solidFill>
                <a:latin typeface="Aptos"/>
              </a:rPr>
              <a:t>Python FastAPI
Uvicorn
:8000</a:t>
            </a:r>
          </a:p>
        </p:txBody>
      </p:sp>
      <p:sp>
        <p:nvSpPr>
          <p:cNvPr id="28" name="Rounded Rectangle 27"/>
          <p:cNvSpPr/>
          <p:nvPr/>
        </p:nvSpPr>
        <p:spPr>
          <a:xfrm>
            <a:off x="6236207" y="1828800"/>
            <a:ext cx="2514600" cy="2606040"/>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437375" y="2084831"/>
            <a:ext cx="2103120" cy="310896"/>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7375" y="2093975"/>
            <a:ext cx="2103120" cy="256032"/>
          </a:xfrm>
          <a:prstGeom prst="rect">
            <a:avLst/>
          </a:prstGeom>
          <a:noFill/>
        </p:spPr>
        <p:txBody>
          <a:bodyPr wrap="square" anchor="ctr">
            <a:spAutoFit/>
          </a:bodyPr>
          <a:lstStyle/>
          <a:p>
            <a:pPr algn="ctr"/>
            <a:r>
              <a:rPr sz="900" b="1">
                <a:solidFill>
                  <a:srgbClr val="70E777"/>
                </a:solidFill>
                <a:latin typeface="Aptos"/>
              </a:rPr>
              <a:t>AI / ML</a:t>
            </a:r>
          </a:p>
        </p:txBody>
      </p:sp>
      <p:sp>
        <p:nvSpPr>
          <p:cNvPr id="31" name="TextBox 30"/>
          <p:cNvSpPr txBox="1"/>
          <p:nvPr/>
        </p:nvSpPr>
        <p:spPr>
          <a:xfrm>
            <a:off x="6483096" y="2788920"/>
            <a:ext cx="2011680" cy="1325880"/>
          </a:xfrm>
          <a:prstGeom prst="rect">
            <a:avLst/>
          </a:prstGeom>
          <a:noFill/>
        </p:spPr>
        <p:txBody>
          <a:bodyPr wrap="square" anchor="ctr">
            <a:spAutoFit/>
          </a:bodyPr>
          <a:lstStyle/>
          <a:p>
            <a:pPr algn="ctr"/>
            <a:r>
              <a:rPr sz="1200" b="1">
                <a:solidFill>
                  <a:srgbClr val="EFF7F5"/>
                </a:solidFill>
                <a:latin typeface="Aptos"/>
              </a:rPr>
              <a:t>Scikit-learn
Pandas
NumPy
Random Forest
Isolation Forest</a:t>
            </a:r>
          </a:p>
        </p:txBody>
      </p:sp>
      <p:sp>
        <p:nvSpPr>
          <p:cNvPr id="32" name="Rounded Rectangle 31"/>
          <p:cNvSpPr/>
          <p:nvPr/>
        </p:nvSpPr>
        <p:spPr>
          <a:xfrm>
            <a:off x="9025128" y="1828800"/>
            <a:ext cx="2514600" cy="2606040"/>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226296" y="2084831"/>
            <a:ext cx="2103120" cy="310896"/>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26296" y="2093975"/>
            <a:ext cx="2103120" cy="256032"/>
          </a:xfrm>
          <a:prstGeom prst="rect">
            <a:avLst/>
          </a:prstGeom>
          <a:noFill/>
        </p:spPr>
        <p:txBody>
          <a:bodyPr wrap="square" anchor="ctr">
            <a:spAutoFit/>
          </a:bodyPr>
          <a:lstStyle/>
          <a:p>
            <a:pPr algn="ctr"/>
            <a:r>
              <a:rPr sz="900" b="1">
                <a:solidFill>
                  <a:srgbClr val="FFBE50"/>
                </a:solidFill>
                <a:latin typeface="Aptos"/>
              </a:rPr>
              <a:t>ANALYTICS</a:t>
            </a:r>
          </a:p>
        </p:txBody>
      </p:sp>
      <p:sp>
        <p:nvSpPr>
          <p:cNvPr id="35" name="TextBox 34"/>
          <p:cNvSpPr txBox="1"/>
          <p:nvPr/>
        </p:nvSpPr>
        <p:spPr>
          <a:xfrm>
            <a:off x="9272015" y="2788920"/>
            <a:ext cx="2011680" cy="1325880"/>
          </a:xfrm>
          <a:prstGeom prst="rect">
            <a:avLst/>
          </a:prstGeom>
          <a:noFill/>
        </p:spPr>
        <p:txBody>
          <a:bodyPr wrap="square" anchor="ctr">
            <a:spAutoFit/>
          </a:bodyPr>
          <a:lstStyle/>
          <a:p>
            <a:pPr algn="ctr"/>
            <a:r>
              <a:rPr sz="1200" b="1">
                <a:solidFill>
                  <a:srgbClr val="EFF7F5"/>
                </a:solidFill>
                <a:latin typeface="Aptos"/>
              </a:rPr>
              <a:t>Streamlit
:8501
Operator Lab</a:t>
            </a:r>
          </a:p>
        </p:txBody>
      </p:sp>
      <p:sp>
        <p:nvSpPr>
          <p:cNvPr id="36" name="Rounded Rectangle 35"/>
          <p:cNvSpPr/>
          <p:nvPr/>
        </p:nvSpPr>
        <p:spPr>
          <a:xfrm>
            <a:off x="658368" y="4709160"/>
            <a:ext cx="10927080" cy="1051560"/>
          </a:xfrm>
          <a:prstGeom prst="roundRect">
            <a:avLst>
              <a:gd name="adj" fmla="val 12000"/>
            </a:avLst>
          </a:prstGeom>
          <a:solidFill>
            <a:srgbClr val="0F191F"/>
          </a:solidFill>
          <a:ln>
            <a:solidFill>
              <a:srgbClr val="263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6112" y="4919472"/>
            <a:ext cx="2103120" cy="246888"/>
          </a:xfrm>
          <a:prstGeom prst="rect">
            <a:avLst/>
          </a:prstGeom>
          <a:noFill/>
        </p:spPr>
        <p:txBody>
          <a:bodyPr wrap="square" anchor="ctr">
            <a:spAutoFit/>
          </a:bodyPr>
          <a:lstStyle/>
          <a:p>
            <a:pPr algn="l"/>
            <a:r>
              <a:rPr sz="1000" b="1">
                <a:solidFill>
                  <a:srgbClr val="22D3BE"/>
                </a:solidFill>
                <a:latin typeface="Aptos"/>
              </a:rPr>
              <a:t>HACKATHON VERIFICATION</a:t>
            </a:r>
          </a:p>
        </p:txBody>
      </p:sp>
      <p:sp>
        <p:nvSpPr>
          <p:cNvPr id="38" name="Rounded Rectangle 37"/>
          <p:cNvSpPr/>
          <p:nvPr/>
        </p:nvSpPr>
        <p:spPr>
          <a:xfrm>
            <a:off x="2971800" y="4882896"/>
            <a:ext cx="1691640" cy="310896"/>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971800" y="4892040"/>
            <a:ext cx="1691640" cy="256032"/>
          </a:xfrm>
          <a:prstGeom prst="rect">
            <a:avLst/>
          </a:prstGeom>
          <a:noFill/>
        </p:spPr>
        <p:txBody>
          <a:bodyPr wrap="square" anchor="ctr">
            <a:spAutoFit/>
          </a:bodyPr>
          <a:lstStyle/>
          <a:p>
            <a:pPr algn="ctr"/>
            <a:r>
              <a:rPr sz="900" b="1">
                <a:solidFill>
                  <a:srgbClr val="70E777"/>
                </a:solidFill>
                <a:latin typeface="Aptos"/>
              </a:rPr>
              <a:t>✓ CHALLENGE U2</a:t>
            </a:r>
          </a:p>
        </p:txBody>
      </p:sp>
      <p:sp>
        <p:nvSpPr>
          <p:cNvPr id="40" name="Rounded Rectangle 39"/>
          <p:cNvSpPr/>
          <p:nvPr/>
        </p:nvSpPr>
        <p:spPr>
          <a:xfrm>
            <a:off x="4828032" y="4882896"/>
            <a:ext cx="1691640" cy="310896"/>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28032" y="4892040"/>
            <a:ext cx="1691640" cy="256032"/>
          </a:xfrm>
          <a:prstGeom prst="rect">
            <a:avLst/>
          </a:prstGeom>
          <a:noFill/>
        </p:spPr>
        <p:txBody>
          <a:bodyPr wrap="square" anchor="ctr">
            <a:spAutoFit/>
          </a:bodyPr>
          <a:lstStyle/>
          <a:p>
            <a:pPr algn="ctr"/>
            <a:r>
              <a:rPr sz="900" b="1">
                <a:solidFill>
                  <a:srgbClr val="70E777"/>
                </a:solidFill>
                <a:latin typeface="Aptos"/>
              </a:rPr>
              <a:t>✓ BUILD VERIFIED</a:t>
            </a:r>
          </a:p>
        </p:txBody>
      </p:sp>
      <p:sp>
        <p:nvSpPr>
          <p:cNvPr id="42" name="Rounded Rectangle 41"/>
          <p:cNvSpPr/>
          <p:nvPr/>
        </p:nvSpPr>
        <p:spPr>
          <a:xfrm>
            <a:off x="6684264" y="4882896"/>
            <a:ext cx="1965960" cy="310896"/>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84264" y="4892040"/>
            <a:ext cx="1965960" cy="256032"/>
          </a:xfrm>
          <a:prstGeom prst="rect">
            <a:avLst/>
          </a:prstGeom>
          <a:noFill/>
        </p:spPr>
        <p:txBody>
          <a:bodyPr wrap="square" anchor="ctr">
            <a:spAutoFit/>
          </a:bodyPr>
          <a:lstStyle/>
          <a:p>
            <a:pPr algn="ctr"/>
            <a:r>
              <a:rPr sz="900" b="1">
                <a:solidFill>
                  <a:srgbClr val="70E777"/>
                </a:solidFill>
                <a:latin typeface="Aptos"/>
              </a:rPr>
              <a:t>✓ 7-PART PACK READY</a:t>
            </a:r>
          </a:p>
        </p:txBody>
      </p:sp>
      <p:sp>
        <p:nvSpPr>
          <p:cNvPr id="44" name="Rounded Rectangle 43"/>
          <p:cNvSpPr/>
          <p:nvPr/>
        </p:nvSpPr>
        <p:spPr>
          <a:xfrm>
            <a:off x="8805672" y="4882896"/>
            <a:ext cx="2148840" cy="310896"/>
          </a:xfrm>
          <a:prstGeom prst="roundRect">
            <a:avLst>
              <a:gd name="adj" fmla="val 12000"/>
            </a:avLst>
          </a:prstGeom>
          <a:solidFill>
            <a:srgbClr val="132228"/>
          </a:solidFill>
          <a:ln>
            <a:solidFill>
              <a:srgbClr val="132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05672" y="4892040"/>
            <a:ext cx="2148840" cy="256032"/>
          </a:xfrm>
          <a:prstGeom prst="rect">
            <a:avLst/>
          </a:prstGeom>
          <a:noFill/>
        </p:spPr>
        <p:txBody>
          <a:bodyPr wrap="square" anchor="ctr">
            <a:spAutoFit/>
          </a:bodyPr>
          <a:lstStyle/>
          <a:p>
            <a:pPr algn="ctr"/>
            <a:r>
              <a:rPr sz="900" b="1">
                <a:solidFill>
                  <a:srgbClr val="70E777"/>
                </a:solidFill>
                <a:latin typeface="Aptos"/>
              </a:rPr>
              <a:t>✓ DEMO FLOW COMPLETE</a:t>
            </a:r>
          </a:p>
        </p:txBody>
      </p:sp>
      <p:sp>
        <p:nvSpPr>
          <p:cNvPr id="46" name="TextBox 45"/>
          <p:cNvSpPr txBox="1"/>
          <p:nvPr/>
        </p:nvSpPr>
        <p:spPr>
          <a:xfrm>
            <a:off x="658368" y="5925312"/>
            <a:ext cx="5852160" cy="274320"/>
          </a:xfrm>
          <a:prstGeom prst="rect">
            <a:avLst/>
          </a:prstGeom>
          <a:noFill/>
        </p:spPr>
        <p:txBody>
          <a:bodyPr wrap="square" anchor="ctr">
            <a:spAutoFit/>
          </a:bodyPr>
          <a:lstStyle/>
          <a:p>
            <a:pPr algn="l"/>
            <a:r>
              <a:rPr sz="1300" b="1">
                <a:solidFill>
                  <a:srgbClr val="EFF7F5"/>
                </a:solidFill>
                <a:latin typeface="Aptos"/>
              </a:rPr>
              <a:t>ENERGYNEX DOESN'T JUST MONITOR THE GRID.</a:t>
            </a:r>
          </a:p>
        </p:txBody>
      </p:sp>
      <p:sp>
        <p:nvSpPr>
          <p:cNvPr id="47" name="TextBox 46"/>
          <p:cNvSpPr txBox="1"/>
          <p:nvPr/>
        </p:nvSpPr>
        <p:spPr>
          <a:xfrm>
            <a:off x="6400800" y="5925312"/>
            <a:ext cx="5074920" cy="274320"/>
          </a:xfrm>
          <a:prstGeom prst="rect">
            <a:avLst/>
          </a:prstGeom>
          <a:noFill/>
        </p:spPr>
        <p:txBody>
          <a:bodyPr wrap="square" anchor="ctr">
            <a:spAutoFit/>
          </a:bodyPr>
          <a:lstStyle/>
          <a:p>
            <a:pPr algn="r"/>
            <a:r>
              <a:rPr sz="1300" b="1">
                <a:solidFill>
                  <a:srgbClr val="70E777"/>
                </a:solidFill>
                <a:latin typeface="Aptos"/>
              </a:rPr>
              <a:t>IT HELPS THE GRID DECIDE.</a:t>
            </a:r>
          </a:p>
        </p:txBody>
      </p:sp>
      <p:cxnSp>
        <p:nvCxnSpPr>
          <p:cNvPr id="48" name="Connector 47"/>
          <p:cNvCxnSpPr/>
          <p:nvPr/>
        </p:nvCxnSpPr>
        <p:spPr>
          <a:xfrm>
            <a:off x="594360" y="6510528"/>
            <a:ext cx="11000232" cy="0"/>
          </a:xfrm>
          <a:prstGeom prst="line">
            <a:avLst/>
          </a:prstGeom>
          <a:ln w="10160">
            <a:solidFill>
              <a:srgbClr val="263A3E"/>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12648" y="6565392"/>
            <a:ext cx="4114800" cy="164592"/>
          </a:xfrm>
          <a:prstGeom prst="rect">
            <a:avLst/>
          </a:prstGeom>
          <a:noFill/>
        </p:spPr>
        <p:txBody>
          <a:bodyPr wrap="square" anchor="ctr">
            <a:spAutoFit/>
          </a:bodyPr>
          <a:lstStyle/>
          <a:p>
            <a:pPr algn="l"/>
            <a:r>
              <a:rPr sz="800" b="1">
                <a:solidFill>
                  <a:srgbClr val="97AEAD"/>
                </a:solidFill>
                <a:latin typeface="Aptos"/>
              </a:rPr>
              <a:t>ENERGYNEX  •  GRIDOPT AI</a:t>
            </a:r>
          </a:p>
        </p:txBody>
      </p:sp>
      <p:sp>
        <p:nvSpPr>
          <p:cNvPr id="50" name="TextBox 49"/>
          <p:cNvSpPr txBox="1"/>
          <p:nvPr/>
        </p:nvSpPr>
        <p:spPr>
          <a:xfrm>
            <a:off x="7589520" y="6565392"/>
            <a:ext cx="4023360" cy="164592"/>
          </a:xfrm>
          <a:prstGeom prst="rect">
            <a:avLst/>
          </a:prstGeom>
          <a:noFill/>
        </p:spPr>
        <p:txBody>
          <a:bodyPr wrap="square" anchor="ctr">
            <a:spAutoFit/>
          </a:bodyPr>
          <a:lstStyle/>
          <a:p>
            <a:pPr algn="r"/>
            <a:r>
              <a:rPr sz="800" b="1">
                <a:solidFill>
                  <a:srgbClr val="97AEAD"/>
                </a:solidFill>
                <a:latin typeface="Aptos"/>
              </a:rPr>
              <a:t>IBM BOB AI INNOVATION HACKATHON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